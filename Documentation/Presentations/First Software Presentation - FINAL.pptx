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7"/>
  </p:notesMasterIdLst>
  <p:sldIdLst>
    <p:sldId id="264" r:id="rId5"/>
    <p:sldId id="267" r:id="rId6"/>
    <p:sldId id="265" r:id="rId7"/>
    <p:sldId id="256" r:id="rId8"/>
    <p:sldId id="257" r:id="rId9"/>
    <p:sldId id="266" r:id="rId10"/>
    <p:sldId id="259" r:id="rId11"/>
    <p:sldId id="260" r:id="rId12"/>
    <p:sldId id="263" r:id="rId13"/>
    <p:sldId id="261" r:id="rId14"/>
    <p:sldId id="262" r:id="rId15"/>
    <p:sldId id="26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856" autoAdjust="0"/>
  </p:normalViewPr>
  <p:slideViewPr>
    <p:cSldViewPr snapToGrid="0">
      <p:cViewPr varScale="1">
        <p:scale>
          <a:sx n="77" d="100"/>
          <a:sy n="77" d="100"/>
        </p:scale>
        <p:origin x="91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242F78-F227-47EF-AAB1-93F13E1BFAC7}" type="datetimeFigureOut">
              <a:rPr lang="en-GB" smtClean="0"/>
              <a:t>07/11/2025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AA5548-74DC-4B3D-BCCF-E57A4756F0DB}" type="slidenum">
              <a:rPr lang="en-GB" smtClean="0"/>
              <a:t>‹#›</a:t>
            </a:fld>
            <a:endParaRPr lang="en-GB"/>
          </a:p>
        </p:txBody>
      </p:sp>
    </p:spTree>
    <p:extLst>
      <p:ext uri="{BB962C8B-B14F-4D97-AF65-F5344CB8AC3E}">
        <p14:creationId xmlns:p14="http://schemas.microsoft.com/office/powerpoint/2010/main" val="485447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Liam:</a:t>
            </a:r>
          </a:p>
          <a:p>
            <a:pPr marL="171450" indent="-171450">
              <a:buFont typeface="Calibri"/>
              <a:buChar char="-"/>
            </a:pPr>
            <a:r>
              <a:rPr lang="en-US" dirty="0">
                <a:latin typeface="Calibri"/>
                <a:ea typeface="Calibri"/>
                <a:cs typeface="Calibri"/>
              </a:rPr>
              <a:t>Introduction to why group 3 (3rd group made, university project, 1 year)</a:t>
            </a:r>
          </a:p>
          <a:p>
            <a:endParaRPr lang="en-US" dirty="0">
              <a:latin typeface="Calibri"/>
              <a:ea typeface="Calibri"/>
              <a:cs typeface="Calibri"/>
            </a:endParaRPr>
          </a:p>
          <a:p>
            <a:pPr>
              <a:buFont typeface="Calibri"/>
            </a:pPr>
            <a:r>
              <a:rPr lang="en-US">
                <a:latin typeface="Calibri"/>
                <a:ea typeface="Calibri"/>
                <a:cs typeface="Calibri"/>
              </a:rPr>
              <a:t>Introduces ourselves to SecOps:</a:t>
            </a:r>
          </a:p>
          <a:p>
            <a:pPr marL="171450" indent="-171450">
              <a:buFont typeface="Calibri"/>
              <a:buChar char="-"/>
            </a:pPr>
            <a:r>
              <a:rPr lang="en-US" dirty="0">
                <a:latin typeface="Calibri"/>
                <a:ea typeface="Calibri"/>
                <a:cs typeface="Calibri"/>
              </a:rPr>
              <a:t>Liam – Project leader/manager, cyber security specialist</a:t>
            </a:r>
          </a:p>
          <a:p>
            <a:pPr marL="171450" indent="-171450">
              <a:buFont typeface="Calibri"/>
              <a:buChar char="-"/>
            </a:pPr>
            <a:r>
              <a:rPr lang="en-US" dirty="0">
                <a:latin typeface="Calibri"/>
                <a:ea typeface="Calibri"/>
                <a:cs typeface="Calibri"/>
              </a:rPr>
              <a:t>Toby – Ai specialist</a:t>
            </a:r>
          </a:p>
          <a:p>
            <a:pPr marL="171450" indent="-171450">
              <a:buFont typeface="Calibri"/>
              <a:buChar char="-"/>
            </a:pPr>
            <a:r>
              <a:rPr lang="en-US" dirty="0">
                <a:latin typeface="Calibri"/>
                <a:ea typeface="Calibri"/>
                <a:cs typeface="Calibri"/>
              </a:rPr>
              <a:t>Khyati – Cyber security specialist &amp; Primary UI/UX Designer</a:t>
            </a:r>
          </a:p>
        </p:txBody>
      </p:sp>
      <p:sp>
        <p:nvSpPr>
          <p:cNvPr id="4" name="Slide Number Placeholder 3"/>
          <p:cNvSpPr>
            <a:spLocks noGrp="1"/>
          </p:cNvSpPr>
          <p:nvPr>
            <p:ph type="sldNum" sz="quarter" idx="5"/>
          </p:nvPr>
        </p:nvSpPr>
        <p:spPr/>
        <p:txBody>
          <a:bodyPr/>
          <a:lstStyle/>
          <a:p>
            <a:fld id="{62AA5548-74DC-4B3D-BCCF-E57A4756F0DB}" type="slidenum">
              <a:rPr lang="en-GB" smtClean="0"/>
              <a:t>1</a:t>
            </a:fld>
            <a:endParaRPr lang="en-GB"/>
          </a:p>
        </p:txBody>
      </p:sp>
    </p:spTree>
    <p:extLst>
      <p:ext uri="{BB962C8B-B14F-4D97-AF65-F5344CB8AC3E}">
        <p14:creationId xmlns:p14="http://schemas.microsoft.com/office/powerpoint/2010/main" val="220323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Briefly explain project recap</a:t>
            </a:r>
          </a:p>
          <a:p>
            <a:endParaRPr lang="en-US" dirty="0">
              <a:solidFill>
                <a:srgbClr val="242424"/>
              </a:solidFill>
            </a:endParaRPr>
          </a:p>
          <a:p>
            <a:r>
              <a:rPr lang="en-US" dirty="0">
                <a:solidFill>
                  <a:srgbClr val="242424"/>
                </a:solidFill>
              </a:rPr>
              <a:t>1 sentence summary - "automatic ticket </a:t>
            </a:r>
            <a:r>
              <a:rPr lang="en-US" dirty="0" err="1">
                <a:solidFill>
                  <a:srgbClr val="242424"/>
                </a:solidFill>
              </a:rPr>
              <a:t>organisation</a:t>
            </a:r>
            <a:r>
              <a:rPr lang="en-US" dirty="0">
                <a:solidFill>
                  <a:srgbClr val="242424"/>
                </a:solidFill>
              </a:rPr>
              <a:t> for security Operations department "</a:t>
            </a:r>
            <a:br>
              <a:rPr lang="en-US" dirty="0">
                <a:cs typeface="+mn-lt"/>
              </a:rPr>
            </a:br>
            <a:endParaRPr lang="en-US" dirty="0">
              <a:solidFill>
                <a:srgbClr val="242424"/>
              </a:solidFill>
            </a:endParaRPr>
          </a:p>
          <a:p>
            <a:pPr marL="171450" indent="-171450">
              <a:buFont typeface="Calibri"/>
              <a:buChar char="-"/>
            </a:pPr>
            <a:r>
              <a:rPr lang="en-US" dirty="0">
                <a:solidFill>
                  <a:srgbClr val="242424"/>
                </a:solidFill>
              </a:rPr>
              <a:t>Simplifying/</a:t>
            </a:r>
            <a:r>
              <a:rPr lang="en-US" dirty="0" err="1">
                <a:solidFill>
                  <a:srgbClr val="242424"/>
                </a:solidFill>
              </a:rPr>
              <a:t>organising</a:t>
            </a:r>
            <a:r>
              <a:rPr lang="en-US" dirty="0">
                <a:solidFill>
                  <a:srgbClr val="242424"/>
                </a:solidFill>
              </a:rPr>
              <a:t> automatic tickets raised to the </a:t>
            </a:r>
            <a:r>
              <a:rPr lang="en-US" dirty="0" err="1">
                <a:solidFill>
                  <a:srgbClr val="242424"/>
                </a:solidFill>
              </a:rPr>
              <a:t>Secops</a:t>
            </a:r>
            <a:r>
              <a:rPr lang="en-US" dirty="0">
                <a:solidFill>
                  <a:srgbClr val="242424"/>
                </a:solidFill>
              </a:rPr>
              <a:t> department. </a:t>
            </a:r>
            <a:endParaRPr lang="en-US" dirty="0">
              <a:solidFill>
                <a:srgbClr val="000000"/>
              </a:solidFill>
              <a:latin typeface="Calibri"/>
              <a:ea typeface="Calibri"/>
              <a:cs typeface="Calibri"/>
            </a:endParaRPr>
          </a:p>
          <a:p>
            <a:pPr marL="171450" indent="-171450">
              <a:buFont typeface="Calibri"/>
              <a:buChar char="-"/>
            </a:pPr>
            <a:r>
              <a:rPr lang="en-US" dirty="0">
                <a:solidFill>
                  <a:srgbClr val="242424"/>
                </a:solidFill>
              </a:rPr>
              <a:t>AI </a:t>
            </a:r>
            <a:r>
              <a:rPr lang="en-US" dirty="0" err="1">
                <a:solidFill>
                  <a:srgbClr val="242424"/>
                </a:solidFill>
              </a:rPr>
              <a:t>organiser</a:t>
            </a:r>
            <a:r>
              <a:rPr lang="en-US" dirty="0">
                <a:solidFill>
                  <a:srgbClr val="242424"/>
                </a:solidFill>
              </a:rPr>
              <a:t> to separate tickets and assign them to a category</a:t>
            </a:r>
            <a:endParaRPr lang="en-US" dirty="0">
              <a:solidFill>
                <a:srgbClr val="000000"/>
              </a:solidFill>
            </a:endParaRPr>
          </a:p>
          <a:p>
            <a:pPr marL="171450" indent="-171450">
              <a:buFont typeface="Calibri"/>
              <a:buChar char="-"/>
            </a:pPr>
            <a:r>
              <a:rPr lang="en-US" dirty="0">
                <a:solidFill>
                  <a:srgbClr val="242424"/>
                </a:solidFill>
              </a:rPr>
              <a:t>simplistic and familiar UI to hide all complex operations and database management. </a:t>
            </a:r>
            <a:endParaRPr lang="en-US" dirty="0">
              <a:solidFill>
                <a:srgbClr val="000000"/>
              </a:solidFill>
            </a:endParaRPr>
          </a:p>
          <a:p>
            <a:pPr marL="171450" indent="-171450">
              <a:buFont typeface="Calibri"/>
              <a:buChar char="-"/>
            </a:pPr>
            <a:r>
              <a:rPr lang="en-US" dirty="0">
                <a:solidFill>
                  <a:srgbClr val="242424"/>
                </a:solidFill>
              </a:rPr>
              <a:t>Our primary goal is to provide a user-friendly interface &amp; automating the manual process.</a:t>
            </a:r>
          </a:p>
        </p:txBody>
      </p:sp>
      <p:sp>
        <p:nvSpPr>
          <p:cNvPr id="4" name="Slide Number Placeholder 3"/>
          <p:cNvSpPr>
            <a:spLocks noGrp="1"/>
          </p:cNvSpPr>
          <p:nvPr>
            <p:ph type="sldNum" sz="quarter" idx="5"/>
          </p:nvPr>
        </p:nvSpPr>
        <p:spPr/>
        <p:txBody>
          <a:bodyPr/>
          <a:lstStyle/>
          <a:p>
            <a:fld id="{62AA5548-74DC-4B3D-BCCF-E57A4756F0DB}" type="slidenum">
              <a:rPr lang="en-GB" smtClean="0"/>
              <a:t>3</a:t>
            </a:fld>
            <a:endParaRPr lang="en-GB"/>
          </a:p>
        </p:txBody>
      </p:sp>
    </p:spTree>
    <p:extLst>
      <p:ext uri="{BB962C8B-B14F-4D97-AF65-F5344CB8AC3E}">
        <p14:creationId xmlns:p14="http://schemas.microsoft.com/office/powerpoint/2010/main" val="1119402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use the relational databases and the issue alert to create a ticket inside the new software. This ticket will now look to be processed by the AI </a:t>
            </a:r>
          </a:p>
        </p:txBody>
      </p:sp>
      <p:sp>
        <p:nvSpPr>
          <p:cNvPr id="4" name="Slide Number Placeholder 3"/>
          <p:cNvSpPr>
            <a:spLocks noGrp="1"/>
          </p:cNvSpPr>
          <p:nvPr>
            <p:ph type="sldNum" sz="quarter" idx="5"/>
          </p:nvPr>
        </p:nvSpPr>
        <p:spPr/>
        <p:txBody>
          <a:bodyPr/>
          <a:lstStyle/>
          <a:p>
            <a:fld id="{62AA5548-74DC-4B3D-BCCF-E57A4756F0DB}" type="slidenum">
              <a:rPr lang="en-GB" smtClean="0"/>
              <a:t>4</a:t>
            </a:fld>
            <a:endParaRPr lang="en-GB"/>
          </a:p>
        </p:txBody>
      </p:sp>
    </p:spTree>
    <p:extLst>
      <p:ext uri="{BB962C8B-B14F-4D97-AF65-F5344CB8AC3E}">
        <p14:creationId xmlns:p14="http://schemas.microsoft.com/office/powerpoint/2010/main" val="3149303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Ticket will be organised into different sections depending on priority/issue type/company/etc by an AI. This AI will be programmed to assist technicians by organising tickets in weighted system where the higher the weight of the ticket the more important the AI will consider the ticket. This means the AI will organise the categories and ticket queue as such.</a:t>
            </a:r>
          </a:p>
        </p:txBody>
      </p:sp>
      <p:sp>
        <p:nvSpPr>
          <p:cNvPr id="4" name="Slide Number Placeholder 3"/>
          <p:cNvSpPr>
            <a:spLocks noGrp="1"/>
          </p:cNvSpPr>
          <p:nvPr>
            <p:ph type="sldNum" sz="quarter" idx="5"/>
          </p:nvPr>
        </p:nvSpPr>
        <p:spPr/>
        <p:txBody>
          <a:bodyPr/>
          <a:lstStyle/>
          <a:p>
            <a:fld id="{62AA5548-74DC-4B3D-BCCF-E57A4756F0DB}" type="slidenum">
              <a:rPr lang="en-GB" smtClean="0"/>
              <a:t>5</a:t>
            </a:fld>
            <a:endParaRPr lang="en-GB"/>
          </a:p>
        </p:txBody>
      </p:sp>
    </p:spTree>
    <p:extLst>
      <p:ext uri="{BB962C8B-B14F-4D97-AF65-F5344CB8AC3E}">
        <p14:creationId xmlns:p14="http://schemas.microsoft.com/office/powerpoint/2010/main" val="4186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Khyati:</a:t>
            </a:r>
          </a:p>
          <a:p>
            <a:endParaRPr lang="en-US" dirty="0">
              <a:latin typeface="Calibri"/>
              <a:ea typeface="Calibri"/>
              <a:cs typeface="Calibri"/>
            </a:endParaRPr>
          </a:p>
          <a:p>
            <a:r>
              <a:rPr lang="en-US" dirty="0">
                <a:latin typeface="Calibri"/>
                <a:ea typeface="Calibri"/>
                <a:cs typeface="Calibri"/>
              </a:rPr>
              <a:t>Explaining each UI design </a:t>
            </a:r>
            <a:r>
              <a:rPr lang="en-US">
                <a:latin typeface="Calibri"/>
                <a:ea typeface="Calibri"/>
                <a:cs typeface="Calibri"/>
              </a:rPr>
              <a:t>briefly</a:t>
            </a:r>
            <a:r>
              <a:rPr lang="en-US" dirty="0">
                <a:latin typeface="Calibri"/>
                <a:ea typeface="Calibri"/>
                <a:cs typeface="Calibri"/>
              </a:rPr>
              <a:t>. Try not to state the obvious as we are restricted by time in these meetings. </a:t>
            </a:r>
          </a:p>
          <a:p>
            <a:endParaRPr lang="en-US" dirty="0">
              <a:latin typeface="Calibri"/>
              <a:ea typeface="Calibri"/>
              <a:cs typeface="Calibri"/>
            </a:endParaRPr>
          </a:p>
          <a:p>
            <a:r>
              <a:rPr lang="en-US" dirty="0">
                <a:latin typeface="Calibri"/>
                <a:ea typeface="Calibri"/>
                <a:cs typeface="Calibri"/>
              </a:rPr>
              <a:t>Short Example for a singular UI Screen "on the top half of this screen we have the </a:t>
            </a:r>
            <a:r>
              <a:rPr lang="en-US" dirty="0" err="1">
                <a:latin typeface="Calibri"/>
                <a:ea typeface="Calibri"/>
                <a:cs typeface="Calibri"/>
              </a:rPr>
              <a:t>organised</a:t>
            </a:r>
            <a:r>
              <a:rPr lang="en-US" dirty="0">
                <a:latin typeface="Calibri"/>
                <a:ea typeface="Calibri"/>
                <a:cs typeface="Calibri"/>
              </a:rPr>
              <a:t> sections (we will create categories upon feedback from SecOps) and below that we have a general space to </a:t>
            </a:r>
            <a:r>
              <a:rPr lang="en-US" dirty="0" err="1">
                <a:latin typeface="Calibri"/>
                <a:ea typeface="Calibri"/>
                <a:cs typeface="Calibri"/>
              </a:rPr>
              <a:t>mimick</a:t>
            </a:r>
            <a:r>
              <a:rPr lang="en-US" dirty="0">
                <a:latin typeface="Calibri"/>
                <a:ea typeface="Calibri"/>
                <a:cs typeface="Calibri"/>
              </a:rPr>
              <a:t> the </a:t>
            </a:r>
            <a:r>
              <a:rPr lang="en-US" dirty="0" err="1">
                <a:latin typeface="Calibri"/>
                <a:ea typeface="Calibri"/>
                <a:cs typeface="Calibri"/>
              </a:rPr>
              <a:t>aestethic</a:t>
            </a:r>
            <a:r>
              <a:rPr lang="en-US" dirty="0">
                <a:latin typeface="Calibri"/>
                <a:ea typeface="Calibri"/>
                <a:cs typeface="Calibri"/>
              </a:rPr>
              <a:t> of Autotask for alerts now if I click on this side button it will take us to …. [next </a:t>
            </a:r>
            <a:r>
              <a:rPr lang="en-US" dirty="0" err="1">
                <a:latin typeface="Calibri"/>
                <a:ea typeface="Calibri"/>
                <a:cs typeface="Calibri"/>
              </a:rPr>
              <a:t>scren</a:t>
            </a:r>
            <a:r>
              <a:rPr lang="en-US" dirty="0">
                <a:latin typeface="Calibri"/>
                <a:ea typeface="Calibri"/>
                <a:cs typeface="Calibri"/>
              </a:rPr>
              <a:t>]"</a:t>
            </a:r>
          </a:p>
        </p:txBody>
      </p:sp>
      <p:sp>
        <p:nvSpPr>
          <p:cNvPr id="4" name="Slide Number Placeholder 3"/>
          <p:cNvSpPr>
            <a:spLocks noGrp="1"/>
          </p:cNvSpPr>
          <p:nvPr>
            <p:ph type="sldNum" sz="quarter" idx="5"/>
          </p:nvPr>
        </p:nvSpPr>
        <p:spPr/>
        <p:txBody>
          <a:bodyPr/>
          <a:lstStyle/>
          <a:p>
            <a:fld id="{62AA5548-74DC-4B3D-BCCF-E57A4756F0DB}" type="slidenum">
              <a:rPr lang="en-GB" smtClean="0"/>
              <a:t>6</a:t>
            </a:fld>
            <a:endParaRPr lang="en-GB"/>
          </a:p>
        </p:txBody>
      </p:sp>
    </p:spTree>
    <p:extLst>
      <p:ext uri="{BB962C8B-B14F-4D97-AF65-F5344CB8AC3E}">
        <p14:creationId xmlns:p14="http://schemas.microsoft.com/office/powerpoint/2010/main" val="1955462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Initial designs and ideas. Can be modified and is not final. Home/ dashboard, shows highlights of the day at the top, all tickets in a table but with categories and filters. </a:t>
            </a:r>
          </a:p>
        </p:txBody>
      </p:sp>
      <p:sp>
        <p:nvSpPr>
          <p:cNvPr id="4" name="Slide Number Placeholder 3"/>
          <p:cNvSpPr>
            <a:spLocks noGrp="1"/>
          </p:cNvSpPr>
          <p:nvPr>
            <p:ph type="sldNum" sz="quarter" idx="5"/>
          </p:nvPr>
        </p:nvSpPr>
        <p:spPr/>
        <p:txBody>
          <a:bodyPr/>
          <a:lstStyle/>
          <a:p>
            <a:fld id="{62AA5548-74DC-4B3D-BCCF-E57A4756F0DB}" type="slidenum">
              <a:rPr lang="en-GB" smtClean="0"/>
              <a:t>7</a:t>
            </a:fld>
            <a:endParaRPr lang="en-GB"/>
          </a:p>
        </p:txBody>
      </p:sp>
    </p:spTree>
    <p:extLst>
      <p:ext uri="{BB962C8B-B14F-4D97-AF65-F5344CB8AC3E}">
        <p14:creationId xmlns:p14="http://schemas.microsoft.com/office/powerpoint/2010/main" val="1736410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 change completion level to log specific progress reached with a ticket. If the issue is too time-consuming or difficult, can mark it as unresolvable.</a:t>
            </a:r>
          </a:p>
        </p:txBody>
      </p:sp>
      <p:sp>
        <p:nvSpPr>
          <p:cNvPr id="4" name="Slide Number Placeholder 3"/>
          <p:cNvSpPr>
            <a:spLocks noGrp="1"/>
          </p:cNvSpPr>
          <p:nvPr>
            <p:ph type="sldNum" sz="quarter" idx="5"/>
          </p:nvPr>
        </p:nvSpPr>
        <p:spPr/>
        <p:txBody>
          <a:bodyPr/>
          <a:lstStyle/>
          <a:p>
            <a:fld id="{62AA5548-74DC-4B3D-BCCF-E57A4756F0DB}" type="slidenum">
              <a:rPr lang="en-GB" smtClean="0"/>
              <a:t>8</a:t>
            </a:fld>
            <a:endParaRPr lang="en-GB"/>
          </a:p>
        </p:txBody>
      </p:sp>
    </p:spTree>
    <p:extLst>
      <p:ext uri="{BB962C8B-B14F-4D97-AF65-F5344CB8AC3E}">
        <p14:creationId xmlns:p14="http://schemas.microsoft.com/office/powerpoint/2010/main" val="3134413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Tickets that were closed/inactive or flagged as unresolvable can be found here, in similar format as shown in dashboard.</a:t>
            </a:r>
          </a:p>
        </p:txBody>
      </p:sp>
      <p:sp>
        <p:nvSpPr>
          <p:cNvPr id="4" name="Slide Number Placeholder 3"/>
          <p:cNvSpPr>
            <a:spLocks noGrp="1"/>
          </p:cNvSpPr>
          <p:nvPr>
            <p:ph type="sldNum" sz="quarter" idx="5"/>
          </p:nvPr>
        </p:nvSpPr>
        <p:spPr/>
        <p:txBody>
          <a:bodyPr/>
          <a:lstStyle/>
          <a:p>
            <a:fld id="{62AA5548-74DC-4B3D-BCCF-E57A4756F0DB}" type="slidenum">
              <a:rPr lang="en-GB" smtClean="0"/>
              <a:t>9</a:t>
            </a:fld>
            <a:endParaRPr lang="en-GB"/>
          </a:p>
        </p:txBody>
      </p:sp>
    </p:spTree>
    <p:extLst>
      <p:ext uri="{BB962C8B-B14F-4D97-AF65-F5344CB8AC3E}">
        <p14:creationId xmlns:p14="http://schemas.microsoft.com/office/powerpoint/2010/main" val="3712579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Useful feature that allows staff to manage their workload more efficiently and create lists, like in Trello.</a:t>
            </a:r>
          </a:p>
        </p:txBody>
      </p:sp>
      <p:sp>
        <p:nvSpPr>
          <p:cNvPr id="4" name="Slide Number Placeholder 3"/>
          <p:cNvSpPr>
            <a:spLocks noGrp="1"/>
          </p:cNvSpPr>
          <p:nvPr>
            <p:ph type="sldNum" sz="quarter" idx="5"/>
          </p:nvPr>
        </p:nvSpPr>
        <p:spPr/>
        <p:txBody>
          <a:bodyPr/>
          <a:lstStyle/>
          <a:p>
            <a:fld id="{62AA5548-74DC-4B3D-BCCF-E57A4756F0DB}" type="slidenum">
              <a:rPr lang="en-GB" smtClean="0"/>
              <a:t>10</a:t>
            </a:fld>
            <a:endParaRPr lang="en-GB"/>
          </a:p>
        </p:txBody>
      </p:sp>
    </p:spTree>
    <p:extLst>
      <p:ext uri="{BB962C8B-B14F-4D97-AF65-F5344CB8AC3E}">
        <p14:creationId xmlns:p14="http://schemas.microsoft.com/office/powerpoint/2010/main" val="452198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Company’s own AI chatbot that staff can use if they struggle with volume of tickets, understanding how to prioritise.</a:t>
            </a:r>
          </a:p>
        </p:txBody>
      </p:sp>
      <p:sp>
        <p:nvSpPr>
          <p:cNvPr id="4" name="Slide Number Placeholder 3"/>
          <p:cNvSpPr>
            <a:spLocks noGrp="1"/>
          </p:cNvSpPr>
          <p:nvPr>
            <p:ph type="sldNum" sz="quarter" idx="5"/>
          </p:nvPr>
        </p:nvSpPr>
        <p:spPr/>
        <p:txBody>
          <a:bodyPr/>
          <a:lstStyle/>
          <a:p>
            <a:fld id="{62AA5548-74DC-4B3D-BCCF-E57A4756F0DB}" type="slidenum">
              <a:rPr lang="en-GB" smtClean="0"/>
              <a:t>11</a:t>
            </a:fld>
            <a:endParaRPr lang="en-GB"/>
          </a:p>
        </p:txBody>
      </p:sp>
    </p:spTree>
    <p:extLst>
      <p:ext uri="{BB962C8B-B14F-4D97-AF65-F5344CB8AC3E}">
        <p14:creationId xmlns:p14="http://schemas.microsoft.com/office/powerpoint/2010/main" val="3239241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GB"/>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807E39B8-A7CB-4B82-AC0C-44B99F546761}" type="datetimeFigureOut">
              <a:rPr lang="en-US" smtClean="0"/>
              <a:t>11/7/2025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r>
              <a:rPr lang="en-US"/>
              <a:t>
              </a:t>
            </a:r>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5E4DE196-8A13-4FF7-A07E-102851959EAB}" type="slidenum">
              <a:rPr lang="en-US" smtClean="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8763735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E7E3940-CA92-4FEE-A698-62CF7BC5AC36}" type="datetimeFigureOut">
              <a:rPr lang="en-US" smtClean="0"/>
              <a:t>11/7/2025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5E4DE196-8A13-4FF7-A07E-102851959EAB}" type="slidenum">
              <a:rPr lang="en-US" smtClean="0"/>
              <a:t>‹#›</a:t>
            </a:fld>
            <a:endParaRPr lang="en-US" dirty="0"/>
          </a:p>
        </p:txBody>
      </p:sp>
    </p:spTree>
    <p:extLst>
      <p:ext uri="{BB962C8B-B14F-4D97-AF65-F5344CB8AC3E}">
        <p14:creationId xmlns:p14="http://schemas.microsoft.com/office/powerpoint/2010/main" val="2810280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GB"/>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33CD641-6C35-45D1-9313-2719E9EA8AD8}" type="datetimeFigureOut">
              <a:rPr lang="en-US" smtClean="0"/>
              <a:t>11/7/2025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5E4DE196-8A13-4FF7-A07E-102851959EAB}" type="slidenum">
              <a:rPr lang="en-US" smtClean="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56444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5301268-3A74-4110-8F08-063DFB8BB885}" type="datetimeFigureOut">
              <a:rPr lang="en-US" smtClean="0"/>
              <a:t>11/7/2025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5E4DE196-8A13-4FF7-A07E-102851959EAB}" type="slidenum">
              <a:rPr lang="en-US" smtClean="0"/>
              <a:t>‹#›</a:t>
            </a:fld>
            <a:endParaRPr lang="en-US" dirty="0"/>
          </a:p>
        </p:txBody>
      </p:sp>
    </p:spTree>
    <p:extLst>
      <p:ext uri="{BB962C8B-B14F-4D97-AF65-F5344CB8AC3E}">
        <p14:creationId xmlns:p14="http://schemas.microsoft.com/office/powerpoint/2010/main" val="124202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GB"/>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F91C1AF-C1FB-48A7-98B4-E595E63F6614}" type="datetimeFigureOut">
              <a:rPr lang="en-US" smtClean="0"/>
              <a:t>11/7/2025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5E4DE196-8A13-4FF7-A07E-102851959EAB}" type="slidenum">
              <a:rPr lang="en-US" smtClean="0"/>
              <a:t>‹#›</a:t>
            </a:fld>
            <a:endParaRPr lang="en-US" dirty="0"/>
          </a:p>
        </p:txBody>
      </p:sp>
    </p:spTree>
    <p:extLst>
      <p:ext uri="{BB962C8B-B14F-4D97-AF65-F5344CB8AC3E}">
        <p14:creationId xmlns:p14="http://schemas.microsoft.com/office/powerpoint/2010/main" val="4121228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7144C44-5F8C-4BEA-BBCE-8694F126DC43}" type="datetimeFigureOut">
              <a:rPr lang="en-US" smtClean="0"/>
              <a:t>11/7/2025</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5E4DE196-8A13-4FF7-A07E-102851959EAB}" type="slidenum">
              <a:rPr lang="en-US" smtClean="0"/>
              <a:t>‹#›</a:t>
            </a:fld>
            <a:endParaRPr lang="en-US" dirty="0"/>
          </a:p>
        </p:txBody>
      </p:sp>
    </p:spTree>
    <p:extLst>
      <p:ext uri="{BB962C8B-B14F-4D97-AF65-F5344CB8AC3E}">
        <p14:creationId xmlns:p14="http://schemas.microsoft.com/office/powerpoint/2010/main" val="4177258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9E56F9-C8F2-4EF7-8042-704C94FF2795}" type="datetimeFigureOut">
              <a:rPr lang="en-US" smtClean="0"/>
              <a:t>11/7/2025</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5E4DE196-8A13-4FF7-A07E-102851959EAB}" type="slidenum">
              <a:rPr lang="en-US" smtClean="0"/>
              <a:t>‹#›</a:t>
            </a:fld>
            <a:endParaRPr lang="en-US" dirty="0"/>
          </a:p>
        </p:txBody>
      </p:sp>
    </p:spTree>
    <p:extLst>
      <p:ext uri="{BB962C8B-B14F-4D97-AF65-F5344CB8AC3E}">
        <p14:creationId xmlns:p14="http://schemas.microsoft.com/office/powerpoint/2010/main" val="137505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GB"/>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F6932DF-953D-44BD-83F8-5D8DA76EA12A}" type="datetimeFigureOut">
              <a:rPr lang="en-US" smtClean="0"/>
              <a:t>11/7/2025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5E4DE196-8A13-4FF7-A07E-102851959EAB}" type="slidenum">
              <a:rPr lang="en-US" smtClean="0"/>
              <a:t>‹#›</a:t>
            </a:fld>
            <a:endParaRPr lang="en-US" dirty="0"/>
          </a:p>
        </p:txBody>
      </p:sp>
    </p:spTree>
    <p:extLst>
      <p:ext uri="{BB962C8B-B14F-4D97-AF65-F5344CB8AC3E}">
        <p14:creationId xmlns:p14="http://schemas.microsoft.com/office/powerpoint/2010/main" val="481970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352F326D-65F4-4B2F-9A62-9E4BD9402C47}" type="datetimeFigureOut">
              <a:rPr lang="en-US" smtClean="0"/>
              <a:t>11/7/2025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5E4DE196-8A13-4FF7-A07E-102851959EAB}" type="slidenum">
              <a:rPr lang="en-US" smtClean="0"/>
              <a:t>‹#›</a:t>
            </a:fld>
            <a:endParaRPr lang="en-US" dirty="0"/>
          </a:p>
        </p:txBody>
      </p:sp>
    </p:spTree>
    <p:extLst>
      <p:ext uri="{BB962C8B-B14F-4D97-AF65-F5344CB8AC3E}">
        <p14:creationId xmlns:p14="http://schemas.microsoft.com/office/powerpoint/2010/main" val="3164580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1742F6F-0846-489A-A4BC-61B476BE2887}" type="datetimeFigureOut">
              <a:rPr lang="en-US" smtClean="0"/>
              <a:t>11/7/2025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5E4DE196-8A13-4FF7-A07E-102851959EAB}" type="slidenum">
              <a:rPr lang="en-US" smtClean="0"/>
              <a:t>‹#›</a:t>
            </a:fld>
            <a:endParaRPr lang="en-US" dirty="0"/>
          </a:p>
        </p:txBody>
      </p:sp>
    </p:spTree>
    <p:extLst>
      <p:ext uri="{BB962C8B-B14F-4D97-AF65-F5344CB8AC3E}">
        <p14:creationId xmlns:p14="http://schemas.microsoft.com/office/powerpoint/2010/main" val="1363147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229DF21-A340-467A-94AB-9502647BB771}" type="datetimeFigureOut">
              <a:rPr lang="en-US" smtClean="0"/>
              <a:t>11/7/2025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5E4DE196-8A13-4FF7-A07E-102851959EAB}" type="slidenum">
              <a:rPr lang="en-US" smtClean="0"/>
              <a:t>‹#›</a:t>
            </a:fld>
            <a:endParaRPr lang="en-US" dirty="0"/>
          </a:p>
        </p:txBody>
      </p:sp>
    </p:spTree>
    <p:extLst>
      <p:ext uri="{BB962C8B-B14F-4D97-AF65-F5344CB8AC3E}">
        <p14:creationId xmlns:p14="http://schemas.microsoft.com/office/powerpoint/2010/main" val="1741067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F9B0CB28-85DB-480B-8C99-FD493ACC7120}" type="datetimeFigureOut">
              <a:rPr lang="en-US" smtClean="0"/>
              <a:t>11/7/2025</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5E4DE196-8A13-4FF7-A07E-102851959EAB}" type="slidenum">
              <a:rPr lang="en-US" smtClean="0"/>
              <a:pPr/>
              <a:t>‹#›</a:t>
            </a:fld>
            <a:endParaRPr lang="en-US" dirty="0"/>
          </a:p>
        </p:txBody>
      </p:sp>
    </p:spTree>
    <p:extLst>
      <p:ext uri="{BB962C8B-B14F-4D97-AF65-F5344CB8AC3E}">
        <p14:creationId xmlns:p14="http://schemas.microsoft.com/office/powerpoint/2010/main" val="2010354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5" name="Title 1">
            <a:extLst>
              <a:ext uri="{FF2B5EF4-FFF2-40B4-BE49-F238E27FC236}">
                <a16:creationId xmlns:a16="http://schemas.microsoft.com/office/drawing/2014/main" id="{32C386B7-DAEC-02CC-9C59-AB9E54335DAB}"/>
              </a:ext>
            </a:extLst>
          </p:cNvPr>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4100" b="1">
                <a:solidFill>
                  <a:srgbClr val="FFFFFF"/>
                </a:solidFill>
              </a:rPr>
              <a:t>Team 3 – </a:t>
            </a:r>
            <a:br>
              <a:rPr lang="en-US" sz="4100" b="1">
                <a:solidFill>
                  <a:srgbClr val="FFFFFF"/>
                </a:solidFill>
              </a:rPr>
            </a:br>
            <a:r>
              <a:rPr lang="en-US" sz="4100" b="1">
                <a:solidFill>
                  <a:srgbClr val="FFFFFF"/>
                </a:solidFill>
              </a:rPr>
              <a:t>Research and Initial Designs</a:t>
            </a:r>
          </a:p>
        </p:txBody>
      </p:sp>
      <p:sp useBgFill="1">
        <p:nvSpPr>
          <p:cNvPr id="19" name="Rectangle 18">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ue and black logo&#10;&#10;AI-generated content may be incorrect.">
            <a:extLst>
              <a:ext uri="{FF2B5EF4-FFF2-40B4-BE49-F238E27FC236}">
                <a16:creationId xmlns:a16="http://schemas.microsoft.com/office/drawing/2014/main" id="{87BA4646-F3DD-F239-9D6C-4A29C3DC62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1662" y="484632"/>
            <a:ext cx="5882248" cy="5882248"/>
          </a:xfrm>
          <a:prstGeom prst="rect">
            <a:avLst/>
          </a:prstGeom>
        </p:spPr>
      </p:pic>
      <p:sp>
        <p:nvSpPr>
          <p:cNvPr id="18" name="Rectangle 17">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2999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8A0C1-9771-40A9-C0A0-D6807E09F1B9}"/>
              </a:ext>
            </a:extLst>
          </p:cNvPr>
          <p:cNvSpPr>
            <a:spLocks noGrp="1"/>
          </p:cNvSpPr>
          <p:nvPr>
            <p:ph type="title"/>
          </p:nvPr>
        </p:nvSpPr>
        <p:spPr>
          <a:xfrm>
            <a:off x="842176" y="2662017"/>
            <a:ext cx="9692640" cy="766983"/>
          </a:xfrm>
        </p:spPr>
        <p:txBody>
          <a:bodyPr/>
          <a:lstStyle/>
          <a:p>
            <a:pPr algn="ctr"/>
            <a:r>
              <a:rPr lang="en-GB" b="1" dirty="0"/>
              <a:t>Project Recap</a:t>
            </a:r>
          </a:p>
        </p:txBody>
      </p:sp>
      <p:sp>
        <p:nvSpPr>
          <p:cNvPr id="4" name="Date Placeholder 3">
            <a:extLst>
              <a:ext uri="{FF2B5EF4-FFF2-40B4-BE49-F238E27FC236}">
                <a16:creationId xmlns:a16="http://schemas.microsoft.com/office/drawing/2014/main" id="{AA1BAD02-3E14-D453-4B9F-C6C00FA32A84}"/>
              </a:ext>
            </a:extLst>
          </p:cNvPr>
          <p:cNvSpPr>
            <a:spLocks noGrp="1"/>
          </p:cNvSpPr>
          <p:nvPr>
            <p:ph type="dt" sz="half" idx="10"/>
          </p:nvPr>
        </p:nvSpPr>
        <p:spPr/>
        <p:txBody>
          <a:bodyPr/>
          <a:lstStyle/>
          <a:p>
            <a:fld id="{2A477F67-8AFC-4423-ADF1-435F0224778A}" type="datetime1">
              <a:rPr lang="en-US" smtClean="0"/>
              <a:t>11/7/2025</a:t>
            </a:fld>
            <a:endParaRPr lang="en-US" dirty="0"/>
          </a:p>
        </p:txBody>
      </p:sp>
      <p:sp>
        <p:nvSpPr>
          <p:cNvPr id="5" name="Footer Placeholder 4">
            <a:extLst>
              <a:ext uri="{FF2B5EF4-FFF2-40B4-BE49-F238E27FC236}">
                <a16:creationId xmlns:a16="http://schemas.microsoft.com/office/drawing/2014/main" id="{F0EBCD93-C4C0-4560-1309-A79EE111AB64}"/>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5C52F063-FFC9-2F7A-D373-BBD080655681}"/>
              </a:ext>
            </a:extLst>
          </p:cNvPr>
          <p:cNvSpPr>
            <a:spLocks noGrp="1"/>
          </p:cNvSpPr>
          <p:nvPr>
            <p:ph type="sldNum" sz="quarter" idx="12"/>
          </p:nvPr>
        </p:nvSpPr>
        <p:spPr/>
        <p:txBody>
          <a:bodyPr>
            <a:normAutofit lnSpcReduction="10000"/>
          </a:bodyPr>
          <a:lstStyle/>
          <a:p>
            <a:fld id="{5E4DE196-8A13-4FF7-A07E-102851959EAB}" type="slidenum">
              <a:rPr lang="en-US" smtClean="0"/>
              <a:t>2</a:t>
            </a:fld>
            <a:endParaRPr lang="en-US" dirty="0"/>
          </a:p>
        </p:txBody>
      </p:sp>
    </p:spTree>
    <p:extLst>
      <p:ext uri="{BB962C8B-B14F-4D97-AF65-F5344CB8AC3E}">
        <p14:creationId xmlns:p14="http://schemas.microsoft.com/office/powerpoint/2010/main" val="321777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9F74CAD-174C-2EF7-A84D-D2C97A25CD76}"/>
              </a:ext>
            </a:extLst>
          </p:cNvPr>
          <p:cNvSpPr>
            <a:spLocks noGrp="1"/>
          </p:cNvSpPr>
          <p:nvPr>
            <p:ph type="title"/>
          </p:nvPr>
        </p:nvSpPr>
        <p:spPr>
          <a:xfrm>
            <a:off x="3570613" y="623824"/>
            <a:ext cx="4891746" cy="555422"/>
          </a:xfrm>
        </p:spPr>
        <p:txBody>
          <a:bodyPr>
            <a:normAutofit fontScale="90000"/>
          </a:bodyPr>
          <a:lstStyle/>
          <a:p>
            <a:pPr algn="ctr"/>
            <a:r>
              <a:rPr lang="en-GB" b="1" dirty="0"/>
              <a:t>Stages of solution</a:t>
            </a:r>
            <a:endParaRPr lang="en-US" b="1" dirty="0"/>
          </a:p>
        </p:txBody>
      </p:sp>
      <p:pic>
        <p:nvPicPr>
          <p:cNvPr id="6" name="Picture 5">
            <a:extLst>
              <a:ext uri="{FF2B5EF4-FFF2-40B4-BE49-F238E27FC236}">
                <a16:creationId xmlns:a16="http://schemas.microsoft.com/office/drawing/2014/main" id="{C1A54816-175D-606E-E90E-3906997DE6BE}"/>
              </a:ext>
            </a:extLst>
          </p:cNvPr>
          <p:cNvPicPr>
            <a:picLocks noChangeAspect="1"/>
          </p:cNvPicPr>
          <p:nvPr/>
        </p:nvPicPr>
        <p:blipFill>
          <a:blip r:embed="rId3"/>
          <a:srcRect l="7429" r="7969" b="-1480"/>
          <a:stretch>
            <a:fillRect/>
          </a:stretch>
        </p:blipFill>
        <p:spPr>
          <a:xfrm>
            <a:off x="815755" y="2222404"/>
            <a:ext cx="3265234" cy="2036309"/>
          </a:xfrm>
          <a:prstGeom prst="rect">
            <a:avLst/>
          </a:prstGeom>
        </p:spPr>
      </p:pic>
      <p:sp>
        <p:nvSpPr>
          <p:cNvPr id="7" name="TextBox 6">
            <a:extLst>
              <a:ext uri="{FF2B5EF4-FFF2-40B4-BE49-F238E27FC236}">
                <a16:creationId xmlns:a16="http://schemas.microsoft.com/office/drawing/2014/main" id="{21452634-EBEF-C140-D4FB-2662737BC6CC}"/>
              </a:ext>
            </a:extLst>
          </p:cNvPr>
          <p:cNvSpPr txBox="1"/>
          <p:nvPr/>
        </p:nvSpPr>
        <p:spPr>
          <a:xfrm>
            <a:off x="1229985" y="4251150"/>
            <a:ext cx="243652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dirty="0"/>
              <a:t>Stage 1: </a:t>
            </a:r>
          </a:p>
          <a:p>
            <a:pPr algn="ctr"/>
            <a:r>
              <a:rPr lang="en-GB" dirty="0"/>
              <a:t>Ticket Creation</a:t>
            </a:r>
          </a:p>
        </p:txBody>
      </p:sp>
      <p:pic>
        <p:nvPicPr>
          <p:cNvPr id="8" name="Picture 7" descr="A high angle view of a city&#10;&#10;AI-generated content may be incorrect.">
            <a:extLst>
              <a:ext uri="{FF2B5EF4-FFF2-40B4-BE49-F238E27FC236}">
                <a16:creationId xmlns:a16="http://schemas.microsoft.com/office/drawing/2014/main" id="{9CE515A7-F1AF-D0B3-5489-7DE0D6E334A6}"/>
              </a:ext>
            </a:extLst>
          </p:cNvPr>
          <p:cNvPicPr>
            <a:picLocks noChangeAspect="1"/>
          </p:cNvPicPr>
          <p:nvPr/>
        </p:nvPicPr>
        <p:blipFill>
          <a:blip r:embed="rId4"/>
          <a:srcRect l="-1" r="-604" b="3712"/>
          <a:stretch>
            <a:fillRect/>
          </a:stretch>
        </p:blipFill>
        <p:spPr>
          <a:xfrm>
            <a:off x="4384600" y="2228488"/>
            <a:ext cx="3137151" cy="2028745"/>
          </a:xfrm>
          <a:prstGeom prst="rect">
            <a:avLst/>
          </a:prstGeom>
        </p:spPr>
      </p:pic>
      <p:sp>
        <p:nvSpPr>
          <p:cNvPr id="9" name="TextBox 8">
            <a:extLst>
              <a:ext uri="{FF2B5EF4-FFF2-40B4-BE49-F238E27FC236}">
                <a16:creationId xmlns:a16="http://schemas.microsoft.com/office/drawing/2014/main" id="{52AFCDF2-4070-8FAF-A330-00DA808AACCD}"/>
              </a:ext>
            </a:extLst>
          </p:cNvPr>
          <p:cNvSpPr txBox="1"/>
          <p:nvPr/>
        </p:nvSpPr>
        <p:spPr>
          <a:xfrm>
            <a:off x="4470685" y="4258713"/>
            <a:ext cx="2816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dirty="0"/>
              <a:t>Stage 2: </a:t>
            </a:r>
          </a:p>
          <a:p>
            <a:pPr algn="ctr"/>
            <a:r>
              <a:rPr lang="en-GB" dirty="0"/>
              <a:t>AI data organisation</a:t>
            </a:r>
          </a:p>
        </p:txBody>
      </p:sp>
      <p:pic>
        <p:nvPicPr>
          <p:cNvPr id="12" name="Picture 11" descr="A screenshot of a computer&#10;&#10;AI-generated content may be incorrect.">
            <a:extLst>
              <a:ext uri="{FF2B5EF4-FFF2-40B4-BE49-F238E27FC236}">
                <a16:creationId xmlns:a16="http://schemas.microsoft.com/office/drawing/2014/main" id="{C770F56C-B9C4-2385-081F-C54FAA5BBD8B}"/>
              </a:ext>
            </a:extLst>
          </p:cNvPr>
          <p:cNvPicPr>
            <a:picLocks noChangeAspect="1"/>
          </p:cNvPicPr>
          <p:nvPr/>
        </p:nvPicPr>
        <p:blipFill>
          <a:blip r:embed="rId5"/>
          <a:stretch>
            <a:fillRect/>
          </a:stretch>
        </p:blipFill>
        <p:spPr>
          <a:xfrm>
            <a:off x="7807979" y="2222404"/>
            <a:ext cx="2794182" cy="2028746"/>
          </a:xfrm>
          <a:prstGeom prst="rect">
            <a:avLst/>
          </a:prstGeom>
        </p:spPr>
      </p:pic>
      <p:sp>
        <p:nvSpPr>
          <p:cNvPr id="13" name="TextBox 12">
            <a:extLst>
              <a:ext uri="{FF2B5EF4-FFF2-40B4-BE49-F238E27FC236}">
                <a16:creationId xmlns:a16="http://schemas.microsoft.com/office/drawing/2014/main" id="{E27E6A74-E1A5-808B-D16C-78955D5C8341}"/>
              </a:ext>
            </a:extLst>
          </p:cNvPr>
          <p:cNvSpPr txBox="1"/>
          <p:nvPr/>
        </p:nvSpPr>
        <p:spPr>
          <a:xfrm>
            <a:off x="7923881" y="4208161"/>
            <a:ext cx="260169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dirty="0"/>
              <a:t>Stage 3:</a:t>
            </a:r>
            <a:r>
              <a:rPr lang="en-GB" dirty="0"/>
              <a:t> </a:t>
            </a:r>
          </a:p>
          <a:p>
            <a:pPr algn="ctr"/>
            <a:r>
              <a:rPr lang="en-GB" dirty="0"/>
              <a:t>Viewing Tickets</a:t>
            </a:r>
          </a:p>
        </p:txBody>
      </p:sp>
      <p:cxnSp>
        <p:nvCxnSpPr>
          <p:cNvPr id="14" name="Straight Arrow Connector 13">
            <a:extLst>
              <a:ext uri="{FF2B5EF4-FFF2-40B4-BE49-F238E27FC236}">
                <a16:creationId xmlns:a16="http://schemas.microsoft.com/office/drawing/2014/main" id="{4174FA94-EA40-2D65-8BCF-2A8190361012}"/>
              </a:ext>
            </a:extLst>
          </p:cNvPr>
          <p:cNvCxnSpPr>
            <a:cxnSpLocks/>
          </p:cNvCxnSpPr>
          <p:nvPr/>
        </p:nvCxnSpPr>
        <p:spPr>
          <a:xfrm>
            <a:off x="3844090" y="4773091"/>
            <a:ext cx="7483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811DF6F3-5BAE-FEF2-5282-89B5EB4E52CE}"/>
              </a:ext>
            </a:extLst>
          </p:cNvPr>
          <p:cNvCxnSpPr>
            <a:cxnSpLocks/>
          </p:cNvCxnSpPr>
          <p:nvPr/>
        </p:nvCxnSpPr>
        <p:spPr>
          <a:xfrm>
            <a:off x="7287153" y="4773091"/>
            <a:ext cx="7483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8965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EBCD2F0-E219-26F1-6B88-CF48C05E91DA}"/>
              </a:ext>
            </a:extLst>
          </p:cNvPr>
          <p:cNvSpPr txBox="1"/>
          <p:nvPr/>
        </p:nvSpPr>
        <p:spPr>
          <a:xfrm>
            <a:off x="3660751" y="364980"/>
            <a:ext cx="5090455" cy="1446550"/>
          </a:xfrm>
          <a:prstGeom prst="rect">
            <a:avLst/>
          </a:prstGeom>
          <a:noFill/>
        </p:spPr>
        <p:txBody>
          <a:bodyPr wrap="square" rtlCol="0">
            <a:spAutoFit/>
          </a:bodyPr>
          <a:lstStyle/>
          <a:p>
            <a:pPr algn="ctr"/>
            <a:r>
              <a:rPr lang="en-GB" sz="4400" b="1" dirty="0"/>
              <a:t>Stage 1 – Ticket Creation</a:t>
            </a:r>
          </a:p>
        </p:txBody>
      </p:sp>
      <p:sp>
        <p:nvSpPr>
          <p:cNvPr id="2" name="TextBox 1">
            <a:extLst>
              <a:ext uri="{FF2B5EF4-FFF2-40B4-BE49-F238E27FC236}">
                <a16:creationId xmlns:a16="http://schemas.microsoft.com/office/drawing/2014/main" id="{CFFAD4C6-D1C4-1F39-D96A-C8FCDFCD221E}"/>
              </a:ext>
            </a:extLst>
          </p:cNvPr>
          <p:cNvSpPr txBox="1"/>
          <p:nvPr/>
        </p:nvSpPr>
        <p:spPr>
          <a:xfrm>
            <a:off x="796643" y="1908369"/>
            <a:ext cx="2512087" cy="3416320"/>
          </a:xfrm>
          <a:prstGeom prst="rect">
            <a:avLst/>
          </a:prstGeom>
          <a:solidFill>
            <a:schemeClr val="accent2"/>
          </a:solidFill>
          <a:ln>
            <a:solidFill>
              <a:srgbClr val="00206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u="sng" dirty="0"/>
              <a:t>Ticket Attributes</a:t>
            </a:r>
            <a:endParaRPr lang="en-GB" b="1" dirty="0"/>
          </a:p>
          <a:p>
            <a:endParaRPr lang="en-GB" dirty="0"/>
          </a:p>
          <a:p>
            <a:pPr marL="285750" indent="-285750">
              <a:buFont typeface="Calibri"/>
              <a:buChar char="-"/>
            </a:pPr>
            <a:r>
              <a:rPr lang="en-GB" dirty="0"/>
              <a:t>Company Name</a:t>
            </a:r>
          </a:p>
          <a:p>
            <a:pPr marL="285750" indent="-285750">
              <a:buFont typeface="Calibri"/>
              <a:buChar char="-"/>
            </a:pPr>
            <a:r>
              <a:rPr lang="en-GB" dirty="0"/>
              <a:t>Device</a:t>
            </a:r>
          </a:p>
          <a:p>
            <a:pPr marL="285750" indent="-285750">
              <a:buFont typeface="Calibri"/>
              <a:buChar char="-"/>
            </a:pPr>
            <a:r>
              <a:rPr lang="en-GB" dirty="0"/>
              <a:t>Issue type</a:t>
            </a:r>
          </a:p>
          <a:p>
            <a:pPr marL="742950" lvl="1" indent="-285750">
              <a:buFont typeface="Calibri"/>
              <a:buChar char="-"/>
            </a:pPr>
            <a:r>
              <a:rPr lang="en-GB" dirty="0"/>
              <a:t>Category of issue type</a:t>
            </a:r>
          </a:p>
          <a:p>
            <a:pPr marL="285750" indent="-285750">
              <a:buFont typeface="Calibri"/>
              <a:buChar char="-"/>
            </a:pPr>
            <a:r>
              <a:rPr lang="en-GB" dirty="0"/>
              <a:t>Contact Email</a:t>
            </a:r>
          </a:p>
          <a:p>
            <a:pPr marL="285750" indent="-285750">
              <a:buFont typeface="Calibri"/>
              <a:buChar char="-"/>
            </a:pPr>
            <a:r>
              <a:rPr lang="en-GB" dirty="0"/>
              <a:t>Contact Number</a:t>
            </a:r>
          </a:p>
          <a:p>
            <a:pPr marL="285750" indent="-285750">
              <a:buFont typeface="Calibri"/>
              <a:buChar char="-"/>
            </a:pPr>
            <a:r>
              <a:rPr lang="en-GB" dirty="0"/>
              <a:t>Date received</a:t>
            </a:r>
          </a:p>
          <a:p>
            <a:pPr marL="285750" indent="-285750">
              <a:buFont typeface="Calibri"/>
              <a:buChar char="-"/>
            </a:pPr>
            <a:r>
              <a:rPr lang="en-GB" dirty="0"/>
              <a:t>Status</a:t>
            </a:r>
          </a:p>
          <a:p>
            <a:pPr marL="285750" indent="-285750">
              <a:buFont typeface="Calibri"/>
              <a:buChar char="-"/>
            </a:pPr>
            <a:r>
              <a:rPr lang="en-GB" dirty="0"/>
              <a:t>Etc.</a:t>
            </a:r>
          </a:p>
        </p:txBody>
      </p:sp>
      <p:pic>
        <p:nvPicPr>
          <p:cNvPr id="4" name="Picture 3" descr="A high angle view of a city&#10;&#10;AI-generated content may be incorrect.">
            <a:extLst>
              <a:ext uri="{FF2B5EF4-FFF2-40B4-BE49-F238E27FC236}">
                <a16:creationId xmlns:a16="http://schemas.microsoft.com/office/drawing/2014/main" id="{5150E89E-BFE9-F896-C645-FD580C1650BB}"/>
              </a:ext>
            </a:extLst>
          </p:cNvPr>
          <p:cNvPicPr>
            <a:picLocks noChangeAspect="1"/>
          </p:cNvPicPr>
          <p:nvPr/>
        </p:nvPicPr>
        <p:blipFill>
          <a:blip r:embed="rId3"/>
          <a:srcRect l="-1" r="-101" b="3712"/>
          <a:stretch>
            <a:fillRect/>
          </a:stretch>
        </p:blipFill>
        <p:spPr>
          <a:xfrm>
            <a:off x="8580792" y="2393551"/>
            <a:ext cx="2814565" cy="1829265"/>
          </a:xfrm>
          <a:prstGeom prst="rect">
            <a:avLst/>
          </a:prstGeom>
        </p:spPr>
      </p:pic>
      <p:cxnSp>
        <p:nvCxnSpPr>
          <p:cNvPr id="5" name="Straight Arrow Connector 4">
            <a:extLst>
              <a:ext uri="{FF2B5EF4-FFF2-40B4-BE49-F238E27FC236}">
                <a16:creationId xmlns:a16="http://schemas.microsoft.com/office/drawing/2014/main" id="{F8F6FEA5-7EA6-831E-7302-B1F1DDDDE55F}"/>
              </a:ext>
            </a:extLst>
          </p:cNvPr>
          <p:cNvCxnSpPr>
            <a:cxnSpLocks/>
          </p:cNvCxnSpPr>
          <p:nvPr/>
        </p:nvCxnSpPr>
        <p:spPr>
          <a:xfrm>
            <a:off x="3914379" y="3616529"/>
            <a:ext cx="415192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BE87CA0-4F6B-9141-A03E-0C226D9E1CAC}"/>
              </a:ext>
            </a:extLst>
          </p:cNvPr>
          <p:cNvSpPr txBox="1"/>
          <p:nvPr/>
        </p:nvSpPr>
        <p:spPr>
          <a:xfrm>
            <a:off x="597860" y="5447653"/>
            <a:ext cx="306289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t>Use SQL to retrieve ticket data from database</a:t>
            </a:r>
          </a:p>
          <a:p>
            <a:endParaRPr lang="en-GB" dirty="0"/>
          </a:p>
        </p:txBody>
      </p:sp>
      <p:sp>
        <p:nvSpPr>
          <p:cNvPr id="8" name="TextBox 7">
            <a:extLst>
              <a:ext uri="{FF2B5EF4-FFF2-40B4-BE49-F238E27FC236}">
                <a16:creationId xmlns:a16="http://schemas.microsoft.com/office/drawing/2014/main" id="{C1C184D1-80DC-82E8-448C-094F1311C774}"/>
              </a:ext>
            </a:extLst>
          </p:cNvPr>
          <p:cNvSpPr txBox="1"/>
          <p:nvPr/>
        </p:nvSpPr>
        <p:spPr>
          <a:xfrm>
            <a:off x="8404235" y="4258714"/>
            <a:ext cx="316768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dirty="0"/>
              <a:t>Stage 2: </a:t>
            </a:r>
          </a:p>
          <a:p>
            <a:pPr algn="ctr"/>
            <a:r>
              <a:rPr lang="en-GB" dirty="0"/>
              <a:t>AI data organisation… → </a:t>
            </a:r>
          </a:p>
        </p:txBody>
      </p:sp>
    </p:spTree>
    <p:extLst>
      <p:ext uri="{BB962C8B-B14F-4D97-AF65-F5344CB8AC3E}">
        <p14:creationId xmlns:p14="http://schemas.microsoft.com/office/powerpoint/2010/main" val="2836659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7266D-0CC5-C617-5715-8E5FAF390D2C}"/>
              </a:ext>
            </a:extLst>
          </p:cNvPr>
          <p:cNvSpPr>
            <a:spLocks noGrp="1"/>
          </p:cNvSpPr>
          <p:nvPr>
            <p:ph type="title"/>
          </p:nvPr>
        </p:nvSpPr>
        <p:spPr>
          <a:xfrm>
            <a:off x="2893955" y="508334"/>
            <a:ext cx="5978974" cy="1272047"/>
          </a:xfrm>
        </p:spPr>
        <p:txBody>
          <a:bodyPr>
            <a:normAutofit fontScale="90000"/>
          </a:bodyPr>
          <a:lstStyle/>
          <a:p>
            <a:pPr algn="ctr"/>
            <a:r>
              <a:rPr lang="en-GB" b="1" dirty="0"/>
              <a:t>Stage 2 - Ticket AI Organisation</a:t>
            </a:r>
          </a:p>
        </p:txBody>
      </p:sp>
      <p:pic>
        <p:nvPicPr>
          <p:cNvPr id="6" name="Picture 5">
            <a:extLst>
              <a:ext uri="{FF2B5EF4-FFF2-40B4-BE49-F238E27FC236}">
                <a16:creationId xmlns:a16="http://schemas.microsoft.com/office/drawing/2014/main" id="{ACDA2A24-5245-26B1-C1F0-A6F8A9BF1632}"/>
              </a:ext>
            </a:extLst>
          </p:cNvPr>
          <p:cNvPicPr>
            <a:picLocks noChangeAspect="1"/>
          </p:cNvPicPr>
          <p:nvPr/>
        </p:nvPicPr>
        <p:blipFill>
          <a:blip r:embed="rId3"/>
          <a:stretch>
            <a:fillRect/>
          </a:stretch>
        </p:blipFill>
        <p:spPr>
          <a:xfrm>
            <a:off x="4763425" y="2419743"/>
            <a:ext cx="1660854" cy="1687129"/>
          </a:xfrm>
          <a:prstGeom prst="rect">
            <a:avLst/>
          </a:prstGeom>
        </p:spPr>
      </p:pic>
      <p:sp>
        <p:nvSpPr>
          <p:cNvPr id="5" name="TextBox 4">
            <a:extLst>
              <a:ext uri="{FF2B5EF4-FFF2-40B4-BE49-F238E27FC236}">
                <a16:creationId xmlns:a16="http://schemas.microsoft.com/office/drawing/2014/main" id="{C99CB6D1-2416-4547-EEF3-3CA46609C79D}"/>
              </a:ext>
            </a:extLst>
          </p:cNvPr>
          <p:cNvSpPr txBox="1"/>
          <p:nvPr/>
        </p:nvSpPr>
        <p:spPr>
          <a:xfrm>
            <a:off x="211187" y="2433459"/>
            <a:ext cx="1936157" cy="2031325"/>
          </a:xfrm>
          <a:prstGeom prst="rect">
            <a:avLst/>
          </a:prstGeom>
          <a:solidFill>
            <a:schemeClr val="accent2"/>
          </a:solidFill>
          <a:ln>
            <a:solidFill>
              <a:srgbClr val="00206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dirty="0"/>
              <a:t>Tickets</a:t>
            </a:r>
            <a:r>
              <a:rPr lang="en-GB" dirty="0"/>
              <a:t>:</a:t>
            </a:r>
          </a:p>
          <a:p>
            <a:endParaRPr lang="en-GB" dirty="0"/>
          </a:p>
          <a:p>
            <a:pPr marL="285750" indent="-285750">
              <a:buFont typeface="Calibri"/>
              <a:buChar char="-"/>
            </a:pPr>
            <a:r>
              <a:rPr lang="en-GB" dirty="0"/>
              <a:t>Ticket1</a:t>
            </a:r>
          </a:p>
          <a:p>
            <a:pPr marL="285750" indent="-285750">
              <a:buFont typeface="Calibri"/>
              <a:buChar char="-"/>
            </a:pPr>
            <a:r>
              <a:rPr lang="en-GB" dirty="0"/>
              <a:t>Ticket2</a:t>
            </a:r>
          </a:p>
          <a:p>
            <a:pPr marL="285750" indent="-285750">
              <a:buFont typeface="Calibri"/>
              <a:buChar char="-"/>
            </a:pPr>
            <a:r>
              <a:rPr lang="en-GB" dirty="0"/>
              <a:t>Ticket3</a:t>
            </a:r>
          </a:p>
          <a:p>
            <a:pPr marL="285750" indent="-285750">
              <a:buFont typeface="Calibri"/>
              <a:buChar char="-"/>
            </a:pPr>
            <a:r>
              <a:rPr lang="en-GB" dirty="0"/>
              <a:t>Ticket4</a:t>
            </a:r>
          </a:p>
          <a:p>
            <a:pPr marL="285750" indent="-285750">
              <a:buFont typeface="Calibri"/>
              <a:buChar char="-"/>
            </a:pPr>
            <a:r>
              <a:rPr lang="en-GB" dirty="0"/>
              <a:t>Ticket5</a:t>
            </a:r>
          </a:p>
        </p:txBody>
      </p:sp>
      <p:sp>
        <p:nvSpPr>
          <p:cNvPr id="7" name="TextBox 6">
            <a:extLst>
              <a:ext uri="{FF2B5EF4-FFF2-40B4-BE49-F238E27FC236}">
                <a16:creationId xmlns:a16="http://schemas.microsoft.com/office/drawing/2014/main" id="{1144B716-93FC-7FFE-2D31-1DFBD4F5D006}"/>
              </a:ext>
            </a:extLst>
          </p:cNvPr>
          <p:cNvSpPr txBox="1"/>
          <p:nvPr/>
        </p:nvSpPr>
        <p:spPr>
          <a:xfrm>
            <a:off x="4663737" y="4030102"/>
            <a:ext cx="193615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t>AI Ticket Organiser</a:t>
            </a:r>
          </a:p>
        </p:txBody>
      </p:sp>
      <p:cxnSp>
        <p:nvCxnSpPr>
          <p:cNvPr id="8" name="Straight Arrow Connector 7">
            <a:extLst>
              <a:ext uri="{FF2B5EF4-FFF2-40B4-BE49-F238E27FC236}">
                <a16:creationId xmlns:a16="http://schemas.microsoft.com/office/drawing/2014/main" id="{E7A77FBF-F663-AE44-3AD5-2552284FFE56}"/>
              </a:ext>
            </a:extLst>
          </p:cNvPr>
          <p:cNvCxnSpPr>
            <a:cxnSpLocks/>
          </p:cNvCxnSpPr>
          <p:nvPr/>
        </p:nvCxnSpPr>
        <p:spPr>
          <a:xfrm>
            <a:off x="2378689" y="3473941"/>
            <a:ext cx="247297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DEC4698-A756-2245-76C6-E9A62B70B08D}"/>
              </a:ext>
            </a:extLst>
          </p:cNvPr>
          <p:cNvSpPr txBox="1"/>
          <p:nvPr/>
        </p:nvSpPr>
        <p:spPr>
          <a:xfrm>
            <a:off x="2614557" y="2476062"/>
            <a:ext cx="168165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t>AI reads and analyses data of each ticket</a:t>
            </a:r>
          </a:p>
        </p:txBody>
      </p:sp>
      <p:cxnSp>
        <p:nvCxnSpPr>
          <p:cNvPr id="10" name="Straight Arrow Connector 9">
            <a:extLst>
              <a:ext uri="{FF2B5EF4-FFF2-40B4-BE49-F238E27FC236}">
                <a16:creationId xmlns:a16="http://schemas.microsoft.com/office/drawing/2014/main" id="{07187F07-DED2-F37D-6AAA-71B152A8EAC3}"/>
              </a:ext>
            </a:extLst>
          </p:cNvPr>
          <p:cNvCxnSpPr>
            <a:cxnSpLocks/>
          </p:cNvCxnSpPr>
          <p:nvPr/>
        </p:nvCxnSpPr>
        <p:spPr>
          <a:xfrm>
            <a:off x="6424279" y="3449121"/>
            <a:ext cx="24828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AA69F1A-6E29-1DB8-84DF-7FFDCAAB0100}"/>
              </a:ext>
            </a:extLst>
          </p:cNvPr>
          <p:cNvSpPr txBox="1"/>
          <p:nvPr/>
        </p:nvSpPr>
        <p:spPr>
          <a:xfrm>
            <a:off x="9128594" y="4838805"/>
            <a:ext cx="1936157" cy="1200329"/>
          </a:xfrm>
          <a:prstGeom prst="rect">
            <a:avLst/>
          </a:prstGeom>
          <a:solidFill>
            <a:schemeClr val="accent2"/>
          </a:solidFill>
          <a:ln>
            <a:solidFill>
              <a:srgbClr val="00206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dirty="0"/>
              <a:t>Backups (Issue type):</a:t>
            </a:r>
            <a:endParaRPr lang="en-GB" dirty="0"/>
          </a:p>
          <a:p>
            <a:endParaRPr lang="en-GB" dirty="0"/>
          </a:p>
          <a:p>
            <a:pPr marL="285750" indent="-285750">
              <a:buFont typeface="Calibri"/>
              <a:buChar char="-"/>
            </a:pPr>
            <a:r>
              <a:rPr lang="en-GB" dirty="0"/>
              <a:t>Ticket5</a:t>
            </a:r>
          </a:p>
        </p:txBody>
      </p:sp>
      <p:sp>
        <p:nvSpPr>
          <p:cNvPr id="12" name="TextBox 11">
            <a:extLst>
              <a:ext uri="{FF2B5EF4-FFF2-40B4-BE49-F238E27FC236}">
                <a16:creationId xmlns:a16="http://schemas.microsoft.com/office/drawing/2014/main" id="{C1DAA481-F82E-78B9-4218-DF6CEBF55DA3}"/>
              </a:ext>
            </a:extLst>
          </p:cNvPr>
          <p:cNvSpPr txBox="1"/>
          <p:nvPr/>
        </p:nvSpPr>
        <p:spPr>
          <a:xfrm>
            <a:off x="9128594" y="3478938"/>
            <a:ext cx="1936157" cy="1200329"/>
          </a:xfrm>
          <a:prstGeom prst="rect">
            <a:avLst/>
          </a:prstGeom>
          <a:solidFill>
            <a:schemeClr val="accent2"/>
          </a:solidFill>
          <a:ln>
            <a:solidFill>
              <a:srgbClr val="00206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dirty="0"/>
              <a:t>Critical Alerts (Priority):</a:t>
            </a:r>
            <a:endParaRPr lang="en-GB" dirty="0"/>
          </a:p>
          <a:p>
            <a:endParaRPr lang="en-GB" dirty="0"/>
          </a:p>
          <a:p>
            <a:pPr marL="285750" indent="-285750">
              <a:buFont typeface="Calibri"/>
              <a:buChar char="-"/>
            </a:pPr>
            <a:r>
              <a:rPr lang="en-GB" dirty="0"/>
              <a:t>Ticket4</a:t>
            </a:r>
          </a:p>
        </p:txBody>
      </p:sp>
      <p:sp>
        <p:nvSpPr>
          <p:cNvPr id="13" name="TextBox 12">
            <a:extLst>
              <a:ext uri="{FF2B5EF4-FFF2-40B4-BE49-F238E27FC236}">
                <a16:creationId xmlns:a16="http://schemas.microsoft.com/office/drawing/2014/main" id="{A09F54F4-37D8-358F-BC1B-7BFD8293DFBF}"/>
              </a:ext>
            </a:extLst>
          </p:cNvPr>
          <p:cNvSpPr txBox="1"/>
          <p:nvPr/>
        </p:nvSpPr>
        <p:spPr>
          <a:xfrm>
            <a:off x="9128593" y="1565074"/>
            <a:ext cx="1936157" cy="1754326"/>
          </a:xfrm>
          <a:prstGeom prst="rect">
            <a:avLst/>
          </a:prstGeom>
          <a:solidFill>
            <a:schemeClr val="accent2"/>
          </a:solidFill>
          <a:ln>
            <a:solidFill>
              <a:srgbClr val="00206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dirty="0"/>
              <a:t>[Company Name]</a:t>
            </a:r>
            <a:r>
              <a:rPr lang="en-GB" dirty="0"/>
              <a:t>:</a:t>
            </a:r>
          </a:p>
          <a:p>
            <a:endParaRPr lang="en-GB" dirty="0"/>
          </a:p>
          <a:p>
            <a:pPr marL="285750" indent="-285750">
              <a:buFont typeface="Calibri"/>
              <a:buChar char="-"/>
            </a:pPr>
            <a:r>
              <a:rPr lang="en-GB" dirty="0"/>
              <a:t>Ticket1</a:t>
            </a:r>
          </a:p>
          <a:p>
            <a:pPr marL="285750" indent="-285750">
              <a:buFont typeface="Calibri"/>
              <a:buChar char="-"/>
            </a:pPr>
            <a:r>
              <a:rPr lang="en-GB" dirty="0"/>
              <a:t>Ticket2</a:t>
            </a:r>
          </a:p>
          <a:p>
            <a:pPr marL="285750" indent="-285750">
              <a:buFont typeface="Calibri"/>
              <a:buChar char="-"/>
            </a:pPr>
            <a:r>
              <a:rPr lang="en-GB" dirty="0"/>
              <a:t>Ticket3</a:t>
            </a:r>
          </a:p>
        </p:txBody>
      </p:sp>
      <p:sp>
        <p:nvSpPr>
          <p:cNvPr id="15" name="TextBox 14">
            <a:extLst>
              <a:ext uri="{FF2B5EF4-FFF2-40B4-BE49-F238E27FC236}">
                <a16:creationId xmlns:a16="http://schemas.microsoft.com/office/drawing/2014/main" id="{B1A69C18-64C4-C134-98F4-FFC4B80A37D6}"/>
              </a:ext>
            </a:extLst>
          </p:cNvPr>
          <p:cNvSpPr txBox="1"/>
          <p:nvPr/>
        </p:nvSpPr>
        <p:spPr>
          <a:xfrm>
            <a:off x="6824898" y="2476062"/>
            <a:ext cx="168165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t>AI categorises and sorts tickets</a:t>
            </a:r>
          </a:p>
        </p:txBody>
      </p:sp>
    </p:spTree>
    <p:extLst>
      <p:ext uri="{BB962C8B-B14F-4D97-AF65-F5344CB8AC3E}">
        <p14:creationId xmlns:p14="http://schemas.microsoft.com/office/powerpoint/2010/main" val="912324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6428E14-8AFD-6A7B-7E39-3FB796A7B812}"/>
              </a:ext>
            </a:extLst>
          </p:cNvPr>
          <p:cNvSpPr>
            <a:spLocks noGrp="1"/>
          </p:cNvSpPr>
          <p:nvPr>
            <p:ph type="title"/>
          </p:nvPr>
        </p:nvSpPr>
        <p:spPr>
          <a:xfrm>
            <a:off x="2474843" y="2441711"/>
            <a:ext cx="6760576" cy="1258291"/>
          </a:xfrm>
        </p:spPr>
        <p:txBody>
          <a:bodyPr>
            <a:normAutofit fontScale="90000"/>
          </a:bodyPr>
          <a:lstStyle/>
          <a:p>
            <a:pPr algn="ctr"/>
            <a:r>
              <a:rPr lang="en-GB" b="1" dirty="0"/>
              <a:t>Stage 3 - Viewing Tickets</a:t>
            </a:r>
          </a:p>
        </p:txBody>
      </p:sp>
      <p:sp>
        <p:nvSpPr>
          <p:cNvPr id="4" name="Date Placeholder 3">
            <a:extLst>
              <a:ext uri="{FF2B5EF4-FFF2-40B4-BE49-F238E27FC236}">
                <a16:creationId xmlns:a16="http://schemas.microsoft.com/office/drawing/2014/main" id="{B7AB6B8A-DCBD-8555-56EB-B915DA968BA9}"/>
              </a:ext>
            </a:extLst>
          </p:cNvPr>
          <p:cNvSpPr>
            <a:spLocks noGrp="1"/>
          </p:cNvSpPr>
          <p:nvPr>
            <p:ph type="dt" sz="half" idx="10"/>
          </p:nvPr>
        </p:nvSpPr>
        <p:spPr/>
        <p:txBody>
          <a:bodyPr/>
          <a:lstStyle/>
          <a:p>
            <a:fld id="{221E535C-FDED-4368-99A8-52D04C29BC94}" type="datetime1">
              <a:rPr lang="en-US"/>
              <a:t>11/7/2025</a:t>
            </a:fld>
            <a:endParaRPr lang="en-US" dirty="0"/>
          </a:p>
        </p:txBody>
      </p:sp>
      <p:sp>
        <p:nvSpPr>
          <p:cNvPr id="5" name="Footer Placeholder 4">
            <a:extLst>
              <a:ext uri="{FF2B5EF4-FFF2-40B4-BE49-F238E27FC236}">
                <a16:creationId xmlns:a16="http://schemas.microsoft.com/office/drawing/2014/main" id="{CD92E891-6B85-A308-3D33-711F46534C5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D92C0D3-82EC-ACB7-4477-419BB8BF7C23}"/>
              </a:ext>
            </a:extLst>
          </p:cNvPr>
          <p:cNvSpPr>
            <a:spLocks noGrp="1"/>
          </p:cNvSpPr>
          <p:nvPr>
            <p:ph type="sldNum" sz="quarter" idx="12"/>
          </p:nvPr>
        </p:nvSpPr>
        <p:spPr/>
        <p:txBody>
          <a:bodyPr>
            <a:normAutofit lnSpcReduction="10000"/>
          </a:bodyPr>
          <a:lstStyle/>
          <a:p>
            <a:fld id="{5E4DE196-8A13-4FF7-A07E-102851959EAB}" type="slidenum">
              <a:rPr lang="en-US" dirty="0"/>
              <a:t>6</a:t>
            </a:fld>
            <a:endParaRPr lang="en-US" dirty="0"/>
          </a:p>
        </p:txBody>
      </p:sp>
    </p:spTree>
    <p:extLst>
      <p:ext uri="{BB962C8B-B14F-4D97-AF65-F5344CB8AC3E}">
        <p14:creationId xmlns:p14="http://schemas.microsoft.com/office/powerpoint/2010/main" val="83636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4820B99A-A76D-B246-0781-2F005861D6C7}"/>
              </a:ext>
            </a:extLst>
          </p:cNvPr>
          <p:cNvPicPr>
            <a:picLocks noChangeAspect="1"/>
          </p:cNvPicPr>
          <p:nvPr/>
        </p:nvPicPr>
        <p:blipFill>
          <a:blip r:embed="rId3"/>
          <a:stretch>
            <a:fillRect/>
          </a:stretch>
        </p:blipFill>
        <p:spPr>
          <a:xfrm>
            <a:off x="99392" y="120252"/>
            <a:ext cx="7762460" cy="6617496"/>
          </a:xfrm>
          <a:prstGeom prst="rect">
            <a:avLst/>
          </a:prstGeom>
        </p:spPr>
      </p:pic>
      <p:sp>
        <p:nvSpPr>
          <p:cNvPr id="3" name="TextBox 2">
            <a:extLst>
              <a:ext uri="{FF2B5EF4-FFF2-40B4-BE49-F238E27FC236}">
                <a16:creationId xmlns:a16="http://schemas.microsoft.com/office/drawing/2014/main" id="{93D1FE5C-760C-92D1-C91D-1DFCFD96025E}"/>
              </a:ext>
            </a:extLst>
          </p:cNvPr>
          <p:cNvSpPr txBox="1"/>
          <p:nvPr/>
        </p:nvSpPr>
        <p:spPr>
          <a:xfrm>
            <a:off x="8189844" y="242715"/>
            <a:ext cx="2822713" cy="671685"/>
          </a:xfrm>
          <a:prstGeom prst="rect">
            <a:avLst/>
          </a:prstGeom>
          <a:noFill/>
        </p:spPr>
        <p:txBody>
          <a:bodyPr wrap="square">
            <a:spAutoFit/>
          </a:bodyPr>
          <a:lstStyle/>
          <a:p>
            <a:pPr algn="ctr"/>
            <a:r>
              <a:rPr lang="en-GB" b="1" dirty="0"/>
              <a:t>Ticket Viewing UX Design – Low Fidelity</a:t>
            </a:r>
            <a:endParaRPr lang="en-GB" dirty="0"/>
          </a:p>
        </p:txBody>
      </p:sp>
      <p:sp>
        <p:nvSpPr>
          <p:cNvPr id="4" name="TextBox 3">
            <a:extLst>
              <a:ext uri="{FF2B5EF4-FFF2-40B4-BE49-F238E27FC236}">
                <a16:creationId xmlns:a16="http://schemas.microsoft.com/office/drawing/2014/main" id="{1ED8CF2F-4B25-12B3-8DF7-0D7408470FEC}"/>
              </a:ext>
            </a:extLst>
          </p:cNvPr>
          <p:cNvSpPr txBox="1"/>
          <p:nvPr/>
        </p:nvSpPr>
        <p:spPr>
          <a:xfrm>
            <a:off x="8384742" y="2217644"/>
            <a:ext cx="23575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t>Staff Dashboard</a:t>
            </a:r>
          </a:p>
        </p:txBody>
      </p:sp>
      <p:sp>
        <p:nvSpPr>
          <p:cNvPr id="7" name="TextBox 6">
            <a:extLst>
              <a:ext uri="{FF2B5EF4-FFF2-40B4-BE49-F238E27FC236}">
                <a16:creationId xmlns:a16="http://schemas.microsoft.com/office/drawing/2014/main" id="{E48250FD-0B71-AA9B-99E2-C92D27969CC3}"/>
              </a:ext>
            </a:extLst>
          </p:cNvPr>
          <p:cNvSpPr txBox="1"/>
          <p:nvPr/>
        </p:nvSpPr>
        <p:spPr>
          <a:xfrm>
            <a:off x="8079137" y="2586976"/>
            <a:ext cx="266312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GB" dirty="0"/>
              <a:t>Tickets organised and displayed in a table</a:t>
            </a:r>
          </a:p>
          <a:p>
            <a:pPr marL="285750" indent="-285750">
              <a:buFont typeface="Arial" panose="020B0604020202020204" pitchFamily="34" charset="0"/>
              <a:buChar char="•"/>
            </a:pPr>
            <a:r>
              <a:rPr lang="en-GB" dirty="0"/>
              <a:t>Can filter out specific tickets</a:t>
            </a:r>
          </a:p>
        </p:txBody>
      </p:sp>
    </p:spTree>
    <p:extLst>
      <p:ext uri="{BB962C8B-B14F-4D97-AF65-F5344CB8AC3E}">
        <p14:creationId xmlns:p14="http://schemas.microsoft.com/office/powerpoint/2010/main" val="292141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95BD53-6E36-A59D-A059-7839A21436DA}"/>
              </a:ext>
            </a:extLst>
          </p:cNvPr>
          <p:cNvPicPr>
            <a:picLocks noChangeAspect="1"/>
          </p:cNvPicPr>
          <p:nvPr/>
        </p:nvPicPr>
        <p:blipFill>
          <a:blip r:embed="rId3"/>
          <a:stretch>
            <a:fillRect/>
          </a:stretch>
        </p:blipFill>
        <p:spPr>
          <a:xfrm>
            <a:off x="194257" y="96814"/>
            <a:ext cx="7733448" cy="6612099"/>
          </a:xfrm>
          <a:prstGeom prst="rect">
            <a:avLst/>
          </a:prstGeom>
        </p:spPr>
      </p:pic>
      <p:sp>
        <p:nvSpPr>
          <p:cNvPr id="2" name="TextBox 1">
            <a:extLst>
              <a:ext uri="{FF2B5EF4-FFF2-40B4-BE49-F238E27FC236}">
                <a16:creationId xmlns:a16="http://schemas.microsoft.com/office/drawing/2014/main" id="{395B779F-FD64-81CB-FA23-BEDA87389F8F}"/>
              </a:ext>
            </a:extLst>
          </p:cNvPr>
          <p:cNvSpPr txBox="1"/>
          <p:nvPr/>
        </p:nvSpPr>
        <p:spPr>
          <a:xfrm>
            <a:off x="8384742" y="2217644"/>
            <a:ext cx="23575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t>Ticket Pop-Up</a:t>
            </a:r>
          </a:p>
        </p:txBody>
      </p:sp>
      <p:sp>
        <p:nvSpPr>
          <p:cNvPr id="3" name="TextBox 2">
            <a:extLst>
              <a:ext uri="{FF2B5EF4-FFF2-40B4-BE49-F238E27FC236}">
                <a16:creationId xmlns:a16="http://schemas.microsoft.com/office/drawing/2014/main" id="{055CC093-CE86-83D8-0305-2837353C7A45}"/>
              </a:ext>
            </a:extLst>
          </p:cNvPr>
          <p:cNvSpPr txBox="1"/>
          <p:nvPr/>
        </p:nvSpPr>
        <p:spPr>
          <a:xfrm>
            <a:off x="8079137" y="2586976"/>
            <a:ext cx="266312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GB" dirty="0"/>
              <a:t>Each ticket is clickable</a:t>
            </a:r>
          </a:p>
          <a:p>
            <a:pPr marL="285750" indent="-285750">
              <a:buFont typeface="Arial" panose="020B0604020202020204" pitchFamily="34" charset="0"/>
              <a:buChar char="•"/>
            </a:pPr>
            <a:r>
              <a:rPr lang="en-GB" dirty="0"/>
              <a:t>Expands to show all options</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953272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8C0C86-E758-AD25-4945-3F522F11A629}"/>
              </a:ext>
            </a:extLst>
          </p:cNvPr>
          <p:cNvPicPr>
            <a:picLocks noChangeAspect="1"/>
          </p:cNvPicPr>
          <p:nvPr/>
        </p:nvPicPr>
        <p:blipFill>
          <a:blip r:embed="rId3"/>
          <a:stretch>
            <a:fillRect/>
          </a:stretch>
        </p:blipFill>
        <p:spPr>
          <a:xfrm>
            <a:off x="75371" y="76936"/>
            <a:ext cx="7826082" cy="6671734"/>
          </a:xfrm>
          <a:prstGeom prst="rect">
            <a:avLst/>
          </a:prstGeom>
        </p:spPr>
      </p:pic>
      <p:sp>
        <p:nvSpPr>
          <p:cNvPr id="3" name="TextBox 2">
            <a:extLst>
              <a:ext uri="{FF2B5EF4-FFF2-40B4-BE49-F238E27FC236}">
                <a16:creationId xmlns:a16="http://schemas.microsoft.com/office/drawing/2014/main" id="{3A32303D-17CD-F19A-D58C-99B7130A5C06}"/>
              </a:ext>
            </a:extLst>
          </p:cNvPr>
          <p:cNvSpPr txBox="1"/>
          <p:nvPr/>
        </p:nvSpPr>
        <p:spPr>
          <a:xfrm>
            <a:off x="8573586" y="2321004"/>
            <a:ext cx="23575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t>Flagged Tickets</a:t>
            </a:r>
          </a:p>
        </p:txBody>
      </p:sp>
      <p:sp>
        <p:nvSpPr>
          <p:cNvPr id="5" name="TextBox 4">
            <a:extLst>
              <a:ext uri="{FF2B5EF4-FFF2-40B4-BE49-F238E27FC236}">
                <a16:creationId xmlns:a16="http://schemas.microsoft.com/office/drawing/2014/main" id="{EF3F5CFC-2B36-5CB7-B639-D520FD36C00A}"/>
              </a:ext>
            </a:extLst>
          </p:cNvPr>
          <p:cNvSpPr txBox="1"/>
          <p:nvPr/>
        </p:nvSpPr>
        <p:spPr>
          <a:xfrm>
            <a:off x="8267981" y="2690336"/>
            <a:ext cx="266312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GB" dirty="0"/>
              <a:t>Shows tickets flagged as unresolvable </a:t>
            </a:r>
            <a:r>
              <a:rPr lang="en-GB" b="1" dirty="0"/>
              <a:t>or</a:t>
            </a:r>
            <a:r>
              <a:rPr lang="en-GB" dirty="0"/>
              <a:t> closed tickets</a:t>
            </a:r>
          </a:p>
        </p:txBody>
      </p:sp>
    </p:spTree>
    <p:extLst>
      <p:ext uri="{BB962C8B-B14F-4D97-AF65-F5344CB8AC3E}">
        <p14:creationId xmlns:p14="http://schemas.microsoft.com/office/powerpoint/2010/main" val="795350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95214E-700F-41A3-8FEF-F1AFDD0B0089}"/>
              </a:ext>
            </a:extLst>
          </p:cNvPr>
          <p:cNvPicPr>
            <a:picLocks noChangeAspect="1"/>
          </p:cNvPicPr>
          <p:nvPr/>
        </p:nvPicPr>
        <p:blipFill>
          <a:blip r:embed="rId3"/>
          <a:stretch>
            <a:fillRect/>
          </a:stretch>
        </p:blipFill>
        <p:spPr>
          <a:xfrm>
            <a:off x="3364839" y="83193"/>
            <a:ext cx="7826447" cy="6691613"/>
          </a:xfrm>
          <a:prstGeom prst="rect">
            <a:avLst/>
          </a:prstGeom>
        </p:spPr>
      </p:pic>
      <p:sp>
        <p:nvSpPr>
          <p:cNvPr id="2" name="TextBox 1">
            <a:extLst>
              <a:ext uri="{FF2B5EF4-FFF2-40B4-BE49-F238E27FC236}">
                <a16:creationId xmlns:a16="http://schemas.microsoft.com/office/drawing/2014/main" id="{2353AA51-1E3A-82D8-8555-2BE72DCCA91A}"/>
              </a:ext>
            </a:extLst>
          </p:cNvPr>
          <p:cNvSpPr txBox="1"/>
          <p:nvPr/>
        </p:nvSpPr>
        <p:spPr>
          <a:xfrm>
            <a:off x="479699" y="2461449"/>
            <a:ext cx="235751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t>Personal Task Organiser</a:t>
            </a:r>
          </a:p>
        </p:txBody>
      </p:sp>
      <p:sp>
        <p:nvSpPr>
          <p:cNvPr id="3" name="TextBox 2">
            <a:extLst>
              <a:ext uri="{FF2B5EF4-FFF2-40B4-BE49-F238E27FC236}">
                <a16:creationId xmlns:a16="http://schemas.microsoft.com/office/drawing/2014/main" id="{96C2DAF1-B5F8-780F-FBEC-45A795719A1C}"/>
              </a:ext>
            </a:extLst>
          </p:cNvPr>
          <p:cNvSpPr txBox="1"/>
          <p:nvPr/>
        </p:nvSpPr>
        <p:spPr>
          <a:xfrm>
            <a:off x="247384" y="3107780"/>
            <a:ext cx="266312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GB" dirty="0"/>
              <a:t>Members can create checklists of assigned issues</a:t>
            </a:r>
          </a:p>
        </p:txBody>
      </p:sp>
      <p:sp>
        <p:nvSpPr>
          <p:cNvPr id="5" name="TextBox 4">
            <a:extLst>
              <a:ext uri="{FF2B5EF4-FFF2-40B4-BE49-F238E27FC236}">
                <a16:creationId xmlns:a16="http://schemas.microsoft.com/office/drawing/2014/main" id="{5EE699FA-7A8C-965F-8B53-DF9ADC5F49C6}"/>
              </a:ext>
            </a:extLst>
          </p:cNvPr>
          <p:cNvSpPr txBox="1"/>
          <p:nvPr/>
        </p:nvSpPr>
        <p:spPr>
          <a:xfrm>
            <a:off x="314959" y="282471"/>
            <a:ext cx="2822713" cy="646331"/>
          </a:xfrm>
          <a:prstGeom prst="rect">
            <a:avLst/>
          </a:prstGeom>
          <a:noFill/>
        </p:spPr>
        <p:txBody>
          <a:bodyPr wrap="square">
            <a:spAutoFit/>
          </a:bodyPr>
          <a:lstStyle/>
          <a:p>
            <a:pPr algn="ctr"/>
            <a:r>
              <a:rPr lang="en-GB" b="1" dirty="0"/>
              <a:t>Non – functional requirement</a:t>
            </a:r>
            <a:endParaRPr lang="en-GB" dirty="0"/>
          </a:p>
        </p:txBody>
      </p:sp>
    </p:spTree>
    <p:extLst>
      <p:ext uri="{BB962C8B-B14F-4D97-AF65-F5344CB8AC3E}">
        <p14:creationId xmlns:p14="http://schemas.microsoft.com/office/powerpoint/2010/main" val="3254864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E7D42762-6C17-0180-9BA7-130E4147AD39}"/>
              </a:ext>
            </a:extLst>
          </p:cNvPr>
          <p:cNvPicPr>
            <a:picLocks noGrp="1" noChangeAspect="1"/>
          </p:cNvPicPr>
          <p:nvPr>
            <p:ph idx="1"/>
          </p:nvPr>
        </p:nvPicPr>
        <p:blipFill>
          <a:blip r:embed="rId3"/>
          <a:stretch>
            <a:fillRect/>
          </a:stretch>
        </p:blipFill>
        <p:spPr>
          <a:xfrm>
            <a:off x="3433972" y="88163"/>
            <a:ext cx="7792038" cy="6681673"/>
          </a:xfrm>
          <a:prstGeom prst="rect">
            <a:avLst/>
          </a:prstGeom>
        </p:spPr>
      </p:pic>
      <p:sp>
        <p:nvSpPr>
          <p:cNvPr id="2" name="TextBox 1">
            <a:extLst>
              <a:ext uri="{FF2B5EF4-FFF2-40B4-BE49-F238E27FC236}">
                <a16:creationId xmlns:a16="http://schemas.microsoft.com/office/drawing/2014/main" id="{1C29696F-5CD3-9309-1516-E7B94C043C08}"/>
              </a:ext>
            </a:extLst>
          </p:cNvPr>
          <p:cNvSpPr txBox="1"/>
          <p:nvPr/>
        </p:nvSpPr>
        <p:spPr>
          <a:xfrm>
            <a:off x="488788" y="2806724"/>
            <a:ext cx="23575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t>Built-in AI chatbot</a:t>
            </a:r>
          </a:p>
        </p:txBody>
      </p:sp>
      <p:sp>
        <p:nvSpPr>
          <p:cNvPr id="3" name="TextBox 2">
            <a:extLst>
              <a:ext uri="{FF2B5EF4-FFF2-40B4-BE49-F238E27FC236}">
                <a16:creationId xmlns:a16="http://schemas.microsoft.com/office/drawing/2014/main" id="{913C97DA-87E8-9C1C-D7BF-3EBF93689D0E}"/>
              </a:ext>
            </a:extLst>
          </p:cNvPr>
          <p:cNvSpPr txBox="1"/>
          <p:nvPr/>
        </p:nvSpPr>
        <p:spPr>
          <a:xfrm>
            <a:off x="335986" y="3285386"/>
            <a:ext cx="266312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GB" dirty="0"/>
              <a:t>To help members organise workload</a:t>
            </a:r>
          </a:p>
          <a:p>
            <a:pPr marL="285750" indent="-285750">
              <a:buFont typeface="Arial" panose="020B0604020202020204" pitchFamily="34" charset="0"/>
              <a:buChar char="•"/>
            </a:pPr>
            <a:endParaRPr lang="en-GB" dirty="0"/>
          </a:p>
        </p:txBody>
      </p:sp>
      <p:sp>
        <p:nvSpPr>
          <p:cNvPr id="5" name="TextBox 4">
            <a:extLst>
              <a:ext uri="{FF2B5EF4-FFF2-40B4-BE49-F238E27FC236}">
                <a16:creationId xmlns:a16="http://schemas.microsoft.com/office/drawing/2014/main" id="{8C0FD0CB-DC49-93DD-2594-EE5068B0F993}"/>
              </a:ext>
            </a:extLst>
          </p:cNvPr>
          <p:cNvSpPr txBox="1"/>
          <p:nvPr/>
        </p:nvSpPr>
        <p:spPr>
          <a:xfrm>
            <a:off x="335986" y="471315"/>
            <a:ext cx="2822713" cy="646331"/>
          </a:xfrm>
          <a:prstGeom prst="rect">
            <a:avLst/>
          </a:prstGeom>
          <a:noFill/>
        </p:spPr>
        <p:txBody>
          <a:bodyPr wrap="square">
            <a:spAutoFit/>
          </a:bodyPr>
          <a:lstStyle/>
          <a:p>
            <a:pPr algn="ctr"/>
            <a:r>
              <a:rPr lang="en-GB" b="1" dirty="0"/>
              <a:t>Non – functional requirement</a:t>
            </a:r>
            <a:endParaRPr lang="en-GB" dirty="0"/>
          </a:p>
        </p:txBody>
      </p:sp>
    </p:spTree>
    <p:extLst>
      <p:ext uri="{BB962C8B-B14F-4D97-AF65-F5344CB8AC3E}">
        <p14:creationId xmlns:p14="http://schemas.microsoft.com/office/powerpoint/2010/main" val="3950733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63A4C-DB25-6795-61CA-7716CBBDD321}"/>
              </a:ext>
            </a:extLst>
          </p:cNvPr>
          <p:cNvSpPr>
            <a:spLocks noGrp="1"/>
          </p:cNvSpPr>
          <p:nvPr>
            <p:ph type="ctrTitle"/>
          </p:nvPr>
        </p:nvSpPr>
        <p:spPr/>
        <p:txBody>
          <a:bodyPr/>
          <a:lstStyle/>
          <a:p>
            <a:r>
              <a:rPr lang="en-GB" dirty="0"/>
              <a:t>Thank You</a:t>
            </a:r>
          </a:p>
        </p:txBody>
      </p:sp>
      <p:sp>
        <p:nvSpPr>
          <p:cNvPr id="4" name="Date Placeholder 3">
            <a:extLst>
              <a:ext uri="{FF2B5EF4-FFF2-40B4-BE49-F238E27FC236}">
                <a16:creationId xmlns:a16="http://schemas.microsoft.com/office/drawing/2014/main" id="{63E04790-3A9C-08AD-E26E-9DD71A18BF24}"/>
              </a:ext>
            </a:extLst>
          </p:cNvPr>
          <p:cNvSpPr>
            <a:spLocks noGrp="1"/>
          </p:cNvSpPr>
          <p:nvPr>
            <p:ph type="dt" sz="half" idx="10"/>
          </p:nvPr>
        </p:nvSpPr>
        <p:spPr/>
        <p:txBody>
          <a:bodyPr/>
          <a:lstStyle/>
          <a:p>
            <a:fld id="{B4449E8D-E256-4799-9065-901686053F72}" type="datetime1">
              <a:rPr lang="en-US" smtClean="0"/>
              <a:t>11/7/2025</a:t>
            </a:fld>
            <a:endParaRPr lang="en-US" dirty="0"/>
          </a:p>
        </p:txBody>
      </p:sp>
      <p:sp>
        <p:nvSpPr>
          <p:cNvPr id="5" name="Footer Placeholder 4">
            <a:extLst>
              <a:ext uri="{FF2B5EF4-FFF2-40B4-BE49-F238E27FC236}">
                <a16:creationId xmlns:a16="http://schemas.microsoft.com/office/drawing/2014/main" id="{C4EC723A-B9FD-645E-C968-F62B25CA41C2}"/>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758C14D9-15F1-F929-93ED-DEF630F4241C}"/>
              </a:ext>
            </a:extLst>
          </p:cNvPr>
          <p:cNvSpPr>
            <a:spLocks noGrp="1"/>
          </p:cNvSpPr>
          <p:nvPr>
            <p:ph type="sldNum" sz="quarter" idx="12"/>
          </p:nvPr>
        </p:nvSpPr>
        <p:spPr/>
        <p:txBody>
          <a:bodyPr/>
          <a:lstStyle/>
          <a:p>
            <a:fld id="{5E4DE196-8A13-4FF7-A07E-102851959EAB}" type="slidenum">
              <a:rPr lang="en-US" smtClean="0"/>
              <a:t>12</a:t>
            </a:fld>
            <a:endParaRPr lang="en-US" dirty="0"/>
          </a:p>
        </p:txBody>
      </p:sp>
    </p:spTree>
    <p:extLst>
      <p:ext uri="{BB962C8B-B14F-4D97-AF65-F5344CB8AC3E}">
        <p14:creationId xmlns:p14="http://schemas.microsoft.com/office/powerpoint/2010/main" val="1003975049"/>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d638be28-5388-4df8-80bc-ff32c9400e0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7FE768FFF2E3A4DA5F1A2B854D561C8" ma:contentTypeVersion="10" ma:contentTypeDescription="Create a new document." ma:contentTypeScope="" ma:versionID="f6ca80afac31df11e6d9a47cc372d89f">
  <xsd:schema xmlns:xsd="http://www.w3.org/2001/XMLSchema" xmlns:xs="http://www.w3.org/2001/XMLSchema" xmlns:p="http://schemas.microsoft.com/office/2006/metadata/properties" xmlns:ns3="d638be28-5388-4df8-80bc-ff32c9400e01" targetNamespace="http://schemas.microsoft.com/office/2006/metadata/properties" ma:root="true" ma:fieldsID="68917f84d41f0cee7e98ecfdb2c86662" ns3:_="">
    <xsd:import namespace="d638be28-5388-4df8-80bc-ff32c9400e01"/>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38be28-5388-4df8-80bc-ff32c9400e0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3EA427-12C5-4452-98CD-F68033D907C7}">
  <ds:schemaRefs>
    <ds:schemaRef ds:uri="http://schemas.microsoft.com/sharepoint/v3/contenttype/forms"/>
  </ds:schemaRefs>
</ds:datastoreItem>
</file>

<file path=customXml/itemProps2.xml><?xml version="1.0" encoding="utf-8"?>
<ds:datastoreItem xmlns:ds="http://schemas.openxmlformats.org/officeDocument/2006/customXml" ds:itemID="{A50C9FA1-F876-4974-B3DB-6159366CB3FE}">
  <ds:schemaRefs>
    <ds:schemaRef ds:uri="d638be28-5388-4df8-80bc-ff32c9400e01"/>
    <ds:schemaRef ds:uri="http://purl.org/dc/dcmitype/"/>
    <ds:schemaRef ds:uri="http://schemas.microsoft.com/office/2006/documentManagement/types"/>
    <ds:schemaRef ds:uri="http://schemas.openxmlformats.org/package/2006/metadata/core-properties"/>
    <ds:schemaRef ds:uri="http://purl.org/dc/elements/1.1/"/>
    <ds:schemaRef ds:uri="http://www.w3.org/XML/1998/namespac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AB47A55A-FDEA-4051-949A-3E9843064B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38be28-5388-4df8-80bc-ff32c9400e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View</Template>
  <TotalTime>264</TotalTime>
  <Words>643</Words>
  <Application>Microsoft Office PowerPoint</Application>
  <PresentationFormat>Widescreen</PresentationFormat>
  <Paragraphs>108</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Century Schoolbook</vt:lpstr>
      <vt:lpstr>Wingdings 2</vt:lpstr>
      <vt:lpstr>View</vt:lpstr>
      <vt:lpstr>Team 3 –  Research and Initial Designs</vt:lpstr>
      <vt:lpstr>Project Recap</vt:lpstr>
      <vt:lpstr>Stages of solution</vt:lpstr>
      <vt:lpstr>PowerPoint Presentation</vt:lpstr>
      <vt:lpstr>Stage 2 - Ticket AI Organisation</vt:lpstr>
      <vt:lpstr>Stage 3 - Viewing Tickets</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Liam Catlin</dc:creator>
  <cp:lastModifiedBy>(s) Khyati Bhatnagar</cp:lastModifiedBy>
  <cp:revision>330</cp:revision>
  <dcterms:created xsi:type="dcterms:W3CDTF">2025-10-15T09:10:07Z</dcterms:created>
  <dcterms:modified xsi:type="dcterms:W3CDTF">2025-11-07T15:31:23Z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0x01010077FE768FFF2E3A4DA5F1A2B854D561C8</vt:lpwstr>
  </property>
</Properties>
</file>